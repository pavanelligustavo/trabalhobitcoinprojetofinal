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tema e autores. Frase-âncora: a verificação que a lei exige já cabe no Bitcoin.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Motivar com um caso real e brasileiro (PCC / Operação Exchange). O ponto fraco do crime é a corretora.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Separar claramente o que a regra EXIGE (titularidade) do que NÃO exige (biometria/vigilância).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ideia inicial era liveness on-chain; explicar por que isso é uma impossibilidade de categoria.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virada: o núcleo é assinar mensagem — nativo do Bitcoin. AOPP e BIP-322.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que sobra: assinatura prova a chave, não a pessoa. Introduzir o binding.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m = H(...) e a arquitetura. Biometria fica off-chain.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CÓDIGO 1: mostrar montar_m e as duas assinaturas. Explicar o papel de cada 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CÓDIGO 2: rodar/mostrar os 3 ataques. Detalhar por que 1 e 2 falham e por que 3 passa.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Responder ao requisito do curso: o que cabe no Bitcoin e o que só o Ethereum 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limites honestos, com a lição do AOPP sobre autocustódia.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dupla rota viável × limite. Frase final sobre não ser vigilância.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03120"/>
            <a:ext cx="6035040" cy="6035040"/>
          </a:xfrm>
          <a:prstGeom prst="ellipse">
            <a:avLst/>
          </a:prstGeom>
          <a:solidFill>
            <a:srgbClr val="12507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657600" cy="3657600"/>
          </a:xfrm>
          <a:prstGeom prst="ellipse">
            <a:avLst/>
          </a:prstGeom>
          <a:solidFill>
            <a:srgbClr val="0B335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686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1783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26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FINAL · PROTOCOLO BITCOIN · 2026/01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214884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 de titularidade de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carteiras autocustodiadas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03504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de quem é a carteira — com o que o Bitcoin já sabe fazer.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3504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Gustavo Nascimento Pavanelli   ·   Marcel Capistrano Almeida Rodrigues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6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ISSO IMPORTA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problema real, e brasileiro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3852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6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US$ 30 mi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61518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lavados via cripto pelo PCC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51960" y="1783080"/>
            <a:ext cx="3474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93852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6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R$ 10,4 bi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26280" y="261518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bloqueados pela Justiça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55280" y="1783080"/>
            <a:ext cx="3474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193852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6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0" y="261518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Exchange (PF)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64240" cy="2651760"/>
          </a:xfrm>
          <a:prstGeom prst="roundRect">
            <a:avLst>
              <a:gd name="adj" fmla="val 3103"/>
            </a:avLst>
          </a:prstGeom>
          <a:solidFill>
            <a:srgbClr val="0E3A5C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7947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as investigações mostram.  </a:t>
            </a:r>
            <a:pPr indent="0" marL="0">
              <a:buNone/>
            </a:pPr>
            <a:r>
              <a:rPr lang="en-US" sz="1700" dirty="0">
                <a:solidFill>
                  <a:srgbClr val="DC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como a Exchange e a Carbono Oculto revelam facções usando criptoativos, fintechs e empresas de fachada para mover o dinheiro do tráfico de volta ao sistema formal.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B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ponto fraco é sempre o mesmo:  </a:t>
            </a:r>
            <a:pPr indent="0" marL="0">
              <a:buNone/>
            </a:pPr>
            <a:r>
              <a:rPr lang="en-US" sz="1700" dirty="0">
                <a:solidFill>
                  <a:srgbClr val="DC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fronteira onde o cripto encontra o dinheiro de verdade — a corretora. É exatamente ali que a verificação de titularidade age.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6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ENQUADRAMENTO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regra exige — e o que não exige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1214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283464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a contraparte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a titularidade da carteira autocustodiada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FATF R.16 (rev. 2025) + BCB Res. 521 (vigência 2026)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72200" y="1783080"/>
            <a:ext cx="5440680" cy="4023360"/>
          </a:xfrm>
          <a:prstGeom prst="roundRect">
            <a:avLst>
              <a:gd name="adj" fmla="val 2045"/>
            </a:avLst>
          </a:prstGeom>
          <a:solidFill>
            <a:srgbClr val="0E3A5C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031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21214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B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EXIGE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537960" y="283464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Biometria ou prova de vida (liveness)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Vigilância do Estado sobre a população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C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obrigação recai sobre a corretora — não sobre quem usa autocustódia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474720"/>
            <a:ext cx="5486400" cy="5486400"/>
          </a:xfrm>
          <a:prstGeom prst="ellipse">
            <a:avLst/>
          </a:prstGeom>
          <a:solidFill>
            <a:srgbClr val="12507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504" y="1783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26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IDEIA INICIAL — E O ERRO A DESFAZER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66928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B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"Liveness on-chain" 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existe.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03504" y="338328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DC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blockchain é determinística e não enxerga um rosto. E biometria é irrevogável: gravá-la num livro imutável colide com o direito de eliminação (LGPD / GDPR).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Logo, a prova de vida fica off-chain. O que cruza para a cadeia é, no máximo, uma atestação assinada.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6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 É O ÓBVIO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núcleo é nativo do Bitcoin: assinar uma mensagem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Provar controle de um endereço não exige contrato, nem outra blockchain. Exige o que o Bitcoin faz desde sempre: assinar uma mensagem com a chave privada.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30175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76148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7614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Corretora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43000" y="3383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a mensagem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886200" y="27889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26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480560" y="2468880"/>
            <a:ext cx="30175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76148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27614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800600" y="3383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 com a chave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543800" y="27889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26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8138160" y="2468880"/>
            <a:ext cx="30175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76148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27614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Corretora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3383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✓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452628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FBF1E2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920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475488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AOPP (21 Analytics, 2020) já industrializou exatamente isto — </a:t>
            </a:r>
            <a:pPr indent="0" marL="0">
              <a:buNone/>
            </a:pPr>
            <a:r>
              <a:rPr lang="en-US" sz="1550" b="1" dirty="0">
                <a:solidFill>
                  <a:srgbClr val="1A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velho “assine esta mensagem” automatizado, usando os padrões do próprio Bitcoin. </a:t>
            </a:r>
            <a:pPr indent="0" marL="0">
              <a:buNone/>
            </a:pPr>
            <a:r>
              <a:rPr lang="en-US" sz="1550" dirty="0">
                <a:solidFill>
                  <a:srgbClr val="1A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segwit/taproot, o padrão moderno é o BIP-322.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6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BURACO QUE SOBRA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 ≠ pessoa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76656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8036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assinatura prova posse da chave, não a identidade de quem opera.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3886200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te entrego minha hardware wallet, você assina, e a corretora conclui que fui eu. Os dois se separam com facilidade constrangedora.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589520" y="1874520"/>
            <a:ext cx="4023360" cy="4023360"/>
          </a:xfrm>
          <a:prstGeom prst="roundRect">
            <a:avLst>
              <a:gd name="adj" fmla="val 2045"/>
            </a:avLst>
          </a:prstGeom>
          <a:solidFill>
            <a:srgbClr val="0E3A5C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2402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55280" y="2926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de pesquisa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955280" y="338328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amarrar, no mesmo ato, pessoa viva + controle da chave + transação específica?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6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binding: uma mensagem de compromisso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0E3A5C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916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 =  H( nonce  ‖  hash(tx)  ‖  id_sessão )</a:t>
            </a:r>
            <a:endParaRPr lang="en-US" sz="2400" dirty="0"/>
          </a:p>
        </p:txBody>
      </p:sp>
      <p:pic>
        <p:nvPicPr>
          <p:cNvPr id="6" name="Image 0" descr="assets/arquite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2697480"/>
            <a:ext cx="5852160" cy="3471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biometria nunca cruza a linha; só a atestação cruza. À direita, a diferença Bitcoin × Ethereum.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6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EXECUTÁVEL · 1/2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protocolo em código (Python, ECDSA à mão)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3200400"/>
          </a:xfrm>
          <a:prstGeom prst="roundRect">
            <a:avLst>
              <a:gd name="adj" fmla="val 2571"/>
            </a:avLst>
          </a:prstGeom>
          <a:solidFill>
            <a:srgbClr val="14140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10424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 = H( nonce || hash(tx) || id_sessao )  -&gt; o que o USUARIO assina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montar_m(nonce, tx_hash, session_id):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hash256(nonce + tx_hash + session_id)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       = montar_m(NONCE, TX_HASH, SESSION_ID)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sig_user = sign_bytes(USER_PRIV, m)          # o "Sign Confirmation"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provedor faz o liveness OFF-CHAIN e co-assina a atestacao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attest   = montar_atestacao(SESSION_ID, USER_PUB, TX_HASH, T)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sig_prov = sign_bytes(PROV_PRIV, attest)     # a atestacao (EIP-712)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4406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5285232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assinaturas independentes:  </a:t>
            </a:r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 usuário prova o controle da chave; a do provedor acrescenta “um humano vivo passou no liveness”. O hash(tx) dentro de m amarra tudo àquela transação.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6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EXECUTÁVEL · 2/2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Atacando cada garantia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2286000"/>
          </a:xfrm>
          <a:prstGeom prst="roundRect">
            <a:avLst>
              <a:gd name="adj" fmla="val 3600"/>
            </a:avLst>
          </a:prstGeom>
          <a:solidFill>
            <a:srgbClr val="14140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Fluxo honesto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412480" y="19659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5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APROVADO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44144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Ataque 1 · reusar a prova em outra tx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0" y="24414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5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REJEITADO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291693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Ataque 2 · reapresentar prova expirada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412480" y="291693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5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REJEITADO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339242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Ataque 3 · provedor desonesto atesta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12480" y="339242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C05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APROVADO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434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 2 — por que falham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84632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depende de hash(tx) e do nonce. Trocar a transação ou reusar depois da janela muda m — e a assinatura deixa de bater. É o que o AOPP estático não faz.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420624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0E3A5C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4434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— o limite intransponível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484632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liveness real ocorreu, mas o provedor co-assina “passou” e o verificador aprova. Cripto nenhuma prova que a câmera viu um humano. A segurança = confiança no atestador.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6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CABE NO BITCOIN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Ethereum × Bitcoin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1214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faz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88036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Provar controle da chave (assinar m) — BIP-322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Carimbar um hash da atestação — OP_RETURN / OpenTimestamps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172200" y="178308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0E3A5C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031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21214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o Ethereum faz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537960" y="288036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DC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a atestação em contrato e recusar a tx sem ela (ERC-4337)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DC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prova ZK on-chain (no Bitcoin, só off-chain / pesquisa: BitVM)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8A52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núcleo obrigatório é Bitcoin nativo. A imposição na cadeia é o “contrato que só o Ethereum tem”.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6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CRÍTICA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limites honestos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7568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574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Âncora off-chain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68680" y="26517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há um atestador. Centralizado, esvazia o sentido de estar na cadeia.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17830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75688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20574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TOCTOU &amp; deepfake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537960" y="26517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janela encolhe a brecha, não a fecha. Sem 100%.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93192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2452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206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Choque com a autocustódia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868680" y="4800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AOPP foi removido por Trezor, Sparrow e BlueWallet em 2022. Barreira de legitimidade, não técnica.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17920" y="393192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224528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0" y="4206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regra não pede liveness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6537960" y="4800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 a camada opcional extrapola a lei — e alimenta o medo de vigilância.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12507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6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 viável × limite intransponível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4023360"/>
          </a:xfrm>
          <a:prstGeom prst="roundRect">
            <a:avLst>
              <a:gd name="adj" fmla="val 2045"/>
            </a:avLst>
          </a:prstGeom>
          <a:solidFill>
            <a:srgbClr val="12507A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 viável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DC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 de titularidade via assinatura — nativa do Bitcoin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DC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Atende à Travel Rule e à Resolução BCB 521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C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 o crime no ponto certo, sem vigiar a população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440680" cy="4023360"/>
          </a:xfrm>
          <a:prstGeom prst="roundRect">
            <a:avLst>
              <a:gd name="adj" fmla="val 2045"/>
            </a:avLst>
          </a:prstGeom>
          <a:solidFill>
            <a:srgbClr val="7A2E22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D">
                <a:alpha val="2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488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21488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 intransponível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537960" y="288036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3D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“Liveness on-chain” não existe; biometria fica off-chain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3D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 a atestação na cadeia: Ethereum sim, Bitcoin não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D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100%: a confiança se reduz a um atestador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0B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 de titularidade, sim — vigilância da população, não.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Prova de titularidade de carteiras autocustodiadas</dc:title>
  <dc:subject>PptxGenJS Presentation</dc:subject>
  <dc:creator>Gustavo Pavanelli; Marcel Rodrigues</dc:creator>
  <cp:lastModifiedBy>Gustavo Pavanelli; Marcel Rodrigues</cp:lastModifiedBy>
  <cp:revision>1</cp:revision>
  <dcterms:created xsi:type="dcterms:W3CDTF">2026-07-15T14:09:33Z</dcterms:created>
  <dcterms:modified xsi:type="dcterms:W3CDTF">2026-07-15T14:09:33Z</dcterms:modified>
</cp:coreProperties>
</file>