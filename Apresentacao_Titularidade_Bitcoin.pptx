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Arial Bold" charset="1" panose="020B0704020202020204"/>
      <p:regular r:id="rId21"/>
    </p:embeddedFont>
    <p:embeddedFont>
      <p:font typeface="Arial Italics" charset="1" panose="020B0604020202090204"/>
      <p:regular r:id="rId22"/>
    </p:embeddedFont>
    <p:embeddedFont>
      <p:font typeface="Arial" charset="1" panose="020B0604020202020204"/>
      <p:regular r:id="rId23"/>
    </p:embeddedFont>
    <p:embeddedFont>
      <p:font typeface="Courier New Bold" charset="1" panose="02070609020205020404"/>
      <p:regular r:id="rId30"/>
    </p:embeddedFont>
    <p:embeddedFont>
      <p:font typeface="Courier New" charset="1" panose="02070309020205020404"/>
      <p:regular r:id="rId32"/>
    </p:embeddedFont>
    <p:embeddedFont>
      <p:font typeface="Arial Bold Italics" charset="1" panose="020B0704020202090204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notesSlides/notesSlide4.xml" Type="http://schemas.openxmlformats.org/officeDocument/2006/relationships/notesSlide"/><Relationship Id="rId27" Target="notesSlides/notesSlide5.xml" Type="http://schemas.openxmlformats.org/officeDocument/2006/relationships/notesSlide"/><Relationship Id="rId28" Target="notesSlides/notesSlide6.xml" Type="http://schemas.openxmlformats.org/officeDocument/2006/relationships/notesSlide"/><Relationship Id="rId29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notesSlides/notesSlide8.xml" Type="http://schemas.openxmlformats.org/officeDocument/2006/relationships/notesSlide"/><Relationship Id="rId32" Target="fonts/font32.fntdata" Type="http://schemas.openxmlformats.org/officeDocument/2006/relationships/font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fonts/font35.fntdata" Type="http://schemas.openxmlformats.org/officeDocument/2006/relationships/font"/><Relationship Id="rId36" Target="notesSlides/notesSlide11.xml" Type="http://schemas.openxmlformats.org/officeDocument/2006/relationships/notesSlide"/><Relationship Id="rId37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Apresentar tema e autores. Frase-âncora: a verificação que a lei exige já cabe no Bitcoin.</a:t>
            </a:r>
          </a:p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Motivar com um caso real e brasileiro (PCC / Operação Exchange). O ponto fraco do crime é a corretora.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Separar claramente o que a regra EXIGE (titularidade) do que NÃO exige (biometria/vigilância).</a:t>
            </a:r>
          </a:p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 ideia inicial era liveness on-chain; explicar por que isso é uma impossibilidade de categoria.</a:t>
            </a:r>
          </a:p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 virada: o núcleo é assinar mensagem — nativo do Bitcoin. AOPP e BIP-322.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O problema que sobra: assinatura prova a chave, não a pessoa. Introduzir o binding.</a:t>
            </a:r>
          </a:p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Apresentar o m = H(...) e a arquitetura. Biometria fica off-chain.</a:t>
            </a:r>
          </a:p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SLIDE DE CÓDIGO 1: mostrar montar_m e as duas assinaturas. Explicar o papel de cada uma.</a:t>
            </a:r>
          </a:p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SLIDE DE CÓDIGO 2: rodar/mostrar os 3 ataques. Detalhar por que 1 e 2 falham e por que 3 passa.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Responder ao requisito do curso: o que cabe no Bitcoin e o que só o Ethereum faz.</a:t>
            </a:r>
          </a:p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Os limites honestos, com a lição do AOPP sobre autocustódia.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Fechar com a dupla rota viável × limite. Frase final sobre não ser vigilância.</a:t>
            </a:r>
          </a:p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5.pn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3.png" Type="http://schemas.openxmlformats.org/officeDocument/2006/relationships/image"/><Relationship Id="rId7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.jpe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jpe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jpe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.jpeg" Type="http://schemas.openxmlformats.org/officeDocument/2006/relationships/image"/><Relationship Id="rId4" Target="../media/image1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.jpeg" Type="http://schemas.openxmlformats.org/officeDocument/2006/relationships/image"/><Relationship Id="rId4" Target="../media/image8.png" Type="http://schemas.openxmlformats.org/officeDocument/2006/relationships/image"/><Relationship Id="rId5" Target="../media/image5.png" Type="http://schemas.openxmlformats.org/officeDocument/2006/relationships/image"/><Relationship Id="rId6" Target="../media/image12.png" Type="http://schemas.openxmlformats.org/officeDocument/2006/relationships/image"/><Relationship Id="rId7" Target="../media/image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990320" y="-3154680"/>
            <a:ext cx="9052560" cy="9052560"/>
            <a:chOff x="0" y="0"/>
            <a:chExt cx="12070080" cy="1207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070080" cy="12070080"/>
            </a:xfrm>
            <a:custGeom>
              <a:avLst/>
              <a:gdLst/>
              <a:ahLst/>
              <a:cxnLst/>
              <a:rect r="r" b="b" t="t" l="l"/>
              <a:pathLst>
                <a:path h="12070080" w="12070080">
                  <a:moveTo>
                    <a:pt x="0" y="6035040"/>
                  </a:moveTo>
                  <a:cubicBezTo>
                    <a:pt x="0" y="2701925"/>
                    <a:pt x="2701925" y="0"/>
                    <a:pt x="6035040" y="0"/>
                  </a:cubicBezTo>
                  <a:cubicBezTo>
                    <a:pt x="9368155" y="0"/>
                    <a:pt x="12070080" y="2701925"/>
                    <a:pt x="12070080" y="6035040"/>
                  </a:cubicBezTo>
                  <a:cubicBezTo>
                    <a:pt x="12070080" y="9368155"/>
                    <a:pt x="9368155" y="12070080"/>
                    <a:pt x="6035040" y="12070080"/>
                  </a:cubicBezTo>
                  <a:cubicBezTo>
                    <a:pt x="2701925" y="12070080"/>
                    <a:pt x="0" y="9368155"/>
                    <a:pt x="0" y="6035040"/>
                  </a:cubicBezTo>
                  <a:close/>
                </a:path>
              </a:pathLst>
            </a:custGeom>
            <a:solidFill>
              <a:srgbClr val="12507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910560" y="5897880"/>
            <a:ext cx="5486400" cy="5486400"/>
            <a:chOff x="0" y="0"/>
            <a:chExt cx="7315200" cy="7315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15200" cy="7315200"/>
            </a:xfrm>
            <a:custGeom>
              <a:avLst/>
              <a:gdLst/>
              <a:ahLst/>
              <a:cxnLst/>
              <a:rect r="r" b="b" t="t" l="l"/>
              <a:pathLst>
                <a:path h="7315200" w="7315200">
                  <a:moveTo>
                    <a:pt x="0" y="3657600"/>
                  </a:moveTo>
                  <a:cubicBezTo>
                    <a:pt x="0" y="1637538"/>
                    <a:pt x="1637538" y="0"/>
                    <a:pt x="3657600" y="0"/>
                  </a:cubicBezTo>
                  <a:cubicBezTo>
                    <a:pt x="5677662" y="0"/>
                    <a:pt x="7315200" y="1637538"/>
                    <a:pt x="7315200" y="3657600"/>
                  </a:cubicBezTo>
                  <a:cubicBezTo>
                    <a:pt x="7315200" y="5677662"/>
                    <a:pt x="5677662" y="7315200"/>
                    <a:pt x="3657600" y="7315200"/>
                  </a:cubicBezTo>
                  <a:cubicBezTo>
                    <a:pt x="1637538" y="7315200"/>
                    <a:pt x="0" y="5677662"/>
                    <a:pt x="0" y="3657600"/>
                  </a:cubicBezTo>
                  <a:close/>
                </a:path>
              </a:pathLst>
            </a:custGeom>
            <a:solidFill>
              <a:srgbClr val="0B335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91540" y="1303020"/>
            <a:ext cx="1097280" cy="1097280"/>
            <a:chOff x="0" y="0"/>
            <a:chExt cx="1463040" cy="146304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5256" y="2674620"/>
            <a:ext cx="15087600" cy="480060"/>
            <a:chOff x="0" y="0"/>
            <a:chExt cx="20116800" cy="6400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16800" cy="640080"/>
            </a:xfrm>
            <a:custGeom>
              <a:avLst/>
              <a:gdLst/>
              <a:ahLst/>
              <a:cxnLst/>
              <a:rect r="r" b="b" t="t" l="l"/>
              <a:pathLst>
                <a:path h="64008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2386" r="0" b="-56238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01168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PROJETO FINAL · PROTOCOLO BITCOIN · 2026/01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22960" y="3223260"/>
            <a:ext cx="16184880" cy="2606040"/>
            <a:chOff x="0" y="0"/>
            <a:chExt cx="21579840" cy="34747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579839" cy="3474720"/>
            </a:xfrm>
            <a:custGeom>
              <a:avLst/>
              <a:gdLst/>
              <a:ahLst/>
              <a:cxnLst/>
              <a:rect r="r" b="b" t="t" l="l"/>
              <a:pathLst>
                <a:path h="3474720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1012" r="0" b="-7101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1579840" cy="3512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711"/>
                </a:lnSpc>
              </a:pPr>
              <a:r>
                <a:rPr lang="en-US" sz="63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Prova de titularidade de</a:t>
              </a:r>
            </a:p>
            <a:p>
              <a:pPr algn="l">
                <a:lnSpc>
                  <a:spcPts val="7711"/>
                </a:lnSpc>
              </a:pPr>
              <a:r>
                <a:rPr lang="en-US" sz="63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carteiras autocustodiadas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05256" y="6172200"/>
            <a:ext cx="15087600" cy="685800"/>
            <a:chOff x="0" y="0"/>
            <a:chExt cx="20116800" cy="914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01168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i="true">
                  <a:solidFill>
                    <a:srgbClr val="CFE3F2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Verificar de quem é a carteira — com o que o Bitcoin já sabe fazer.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05256" y="8709660"/>
            <a:ext cx="16459200" cy="548640"/>
            <a:chOff x="0" y="0"/>
            <a:chExt cx="2194560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731520"/>
            </a:xfrm>
            <a:custGeom>
              <a:avLst/>
              <a:gdLst/>
              <a:ahLst/>
              <a:cxnLst/>
              <a:rect r="r" b="b" t="t" l="l"/>
              <a:pathLst>
                <a:path h="7315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9FC3DD"/>
                  </a:solidFill>
                  <a:latin typeface="Arial"/>
                  <a:ea typeface="Arial"/>
                  <a:cs typeface="Arial"/>
                  <a:sym typeface="Arial"/>
                </a:rPr>
                <a:t>Gustavo Nascimento Pavanelli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POR QUE ISSO IMPORTA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Um problema real, e brasileiro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665095"/>
            <a:ext cx="5231130" cy="2145030"/>
            <a:chOff x="0" y="0"/>
            <a:chExt cx="6974840" cy="2860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74840" cy="2860040"/>
            </a:xfrm>
            <a:custGeom>
              <a:avLst/>
              <a:gdLst/>
              <a:ahLst/>
              <a:cxnLst/>
              <a:rect r="r" b="b" t="t" l="l"/>
              <a:pathLst>
                <a:path h="2860040" w="6974840">
                  <a:moveTo>
                    <a:pt x="0" y="166116"/>
                  </a:moveTo>
                  <a:cubicBezTo>
                    <a:pt x="0" y="74295"/>
                    <a:pt x="74295" y="0"/>
                    <a:pt x="166116" y="0"/>
                  </a:cubicBezTo>
                  <a:lnTo>
                    <a:pt x="6808724" y="0"/>
                  </a:lnTo>
                  <a:cubicBezTo>
                    <a:pt x="6900418" y="0"/>
                    <a:pt x="6974840" y="74295"/>
                    <a:pt x="6974840" y="166116"/>
                  </a:cubicBezTo>
                  <a:lnTo>
                    <a:pt x="6974840" y="2693924"/>
                  </a:lnTo>
                  <a:cubicBezTo>
                    <a:pt x="6974840" y="2785618"/>
                    <a:pt x="6900545" y="2860040"/>
                    <a:pt x="6808724" y="2860040"/>
                  </a:cubicBezTo>
                  <a:lnTo>
                    <a:pt x="166116" y="2860040"/>
                  </a:lnTo>
                  <a:cubicBezTo>
                    <a:pt x="74295" y="2860040"/>
                    <a:pt x="0" y="2785745"/>
                    <a:pt x="0" y="269392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34440" y="2907792"/>
            <a:ext cx="4389120" cy="960120"/>
            <a:chOff x="0" y="0"/>
            <a:chExt cx="5852160" cy="12801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5852160" cy="13087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US$ 30 mi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3922776"/>
            <a:ext cx="4457700" cy="685800"/>
            <a:chOff x="0" y="0"/>
            <a:chExt cx="5943600" cy="914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943600" cy="914400"/>
            </a:xfrm>
            <a:custGeom>
              <a:avLst/>
              <a:gdLst/>
              <a:ahLst/>
              <a:cxnLst/>
              <a:rect r="r" b="b" t="t" l="l"/>
              <a:pathLst>
                <a:path h="914400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652" r="0" b="-7665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lavados via cripto pelo PCC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368415" y="2665095"/>
            <a:ext cx="5231130" cy="2145030"/>
            <a:chOff x="0" y="0"/>
            <a:chExt cx="6974840" cy="2860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974840" cy="2860040"/>
            </a:xfrm>
            <a:custGeom>
              <a:avLst/>
              <a:gdLst/>
              <a:ahLst/>
              <a:cxnLst/>
              <a:rect r="r" b="b" t="t" l="l"/>
              <a:pathLst>
                <a:path h="2860040" w="6974840">
                  <a:moveTo>
                    <a:pt x="0" y="166116"/>
                  </a:moveTo>
                  <a:cubicBezTo>
                    <a:pt x="0" y="74295"/>
                    <a:pt x="74295" y="0"/>
                    <a:pt x="166116" y="0"/>
                  </a:cubicBezTo>
                  <a:lnTo>
                    <a:pt x="6808724" y="0"/>
                  </a:lnTo>
                  <a:cubicBezTo>
                    <a:pt x="6900418" y="0"/>
                    <a:pt x="6974840" y="74295"/>
                    <a:pt x="6974840" y="166116"/>
                  </a:cubicBezTo>
                  <a:lnTo>
                    <a:pt x="6974840" y="2693924"/>
                  </a:lnTo>
                  <a:cubicBezTo>
                    <a:pt x="6974840" y="2785618"/>
                    <a:pt x="6900545" y="2860040"/>
                    <a:pt x="6808724" y="2860040"/>
                  </a:cubicBezTo>
                  <a:lnTo>
                    <a:pt x="166116" y="2860040"/>
                  </a:lnTo>
                  <a:cubicBezTo>
                    <a:pt x="74295" y="2860040"/>
                    <a:pt x="0" y="2785745"/>
                    <a:pt x="0" y="269392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6789420" y="2907792"/>
            <a:ext cx="4389120" cy="960120"/>
            <a:chOff x="0" y="0"/>
            <a:chExt cx="585216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5852160" cy="13087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R$ 10,4 bi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789420" y="3922776"/>
            <a:ext cx="4457700" cy="685800"/>
            <a:chOff x="0" y="0"/>
            <a:chExt cx="5943600" cy="914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943600" cy="914400"/>
            </a:xfrm>
            <a:custGeom>
              <a:avLst/>
              <a:gdLst/>
              <a:ahLst/>
              <a:cxnLst/>
              <a:rect r="r" b="b" t="t" l="l"/>
              <a:pathLst>
                <a:path h="914400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652" r="0" b="-76652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bloqueados pela Justiça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23395" y="2665095"/>
            <a:ext cx="5231130" cy="2145030"/>
            <a:chOff x="0" y="0"/>
            <a:chExt cx="6974840" cy="2860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974840" cy="2860040"/>
            </a:xfrm>
            <a:custGeom>
              <a:avLst/>
              <a:gdLst/>
              <a:ahLst/>
              <a:cxnLst/>
              <a:rect r="r" b="b" t="t" l="l"/>
              <a:pathLst>
                <a:path h="2860040" w="6974840">
                  <a:moveTo>
                    <a:pt x="0" y="166116"/>
                  </a:moveTo>
                  <a:cubicBezTo>
                    <a:pt x="0" y="74295"/>
                    <a:pt x="74295" y="0"/>
                    <a:pt x="166116" y="0"/>
                  </a:cubicBezTo>
                  <a:lnTo>
                    <a:pt x="6808724" y="0"/>
                  </a:lnTo>
                  <a:cubicBezTo>
                    <a:pt x="6900418" y="0"/>
                    <a:pt x="6974840" y="74295"/>
                    <a:pt x="6974840" y="166116"/>
                  </a:cubicBezTo>
                  <a:lnTo>
                    <a:pt x="6974840" y="2693924"/>
                  </a:lnTo>
                  <a:cubicBezTo>
                    <a:pt x="6974840" y="2785618"/>
                    <a:pt x="6900545" y="2860040"/>
                    <a:pt x="6808724" y="2860040"/>
                  </a:cubicBezTo>
                  <a:lnTo>
                    <a:pt x="166116" y="2860040"/>
                  </a:lnTo>
                  <a:cubicBezTo>
                    <a:pt x="74295" y="2860040"/>
                    <a:pt x="0" y="2785745"/>
                    <a:pt x="0" y="269392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344400" y="2907792"/>
            <a:ext cx="4389120" cy="960120"/>
            <a:chOff x="0" y="0"/>
            <a:chExt cx="585216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852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5852160" cy="13087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jul 2026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344400" y="3922776"/>
            <a:ext cx="4457700" cy="685800"/>
            <a:chOff x="0" y="0"/>
            <a:chExt cx="5943600" cy="914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943600" cy="914400"/>
            </a:xfrm>
            <a:custGeom>
              <a:avLst/>
              <a:gdLst/>
              <a:ahLst/>
              <a:cxnLst/>
              <a:rect r="r" b="b" t="t" l="l"/>
              <a:pathLst>
                <a:path h="914400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652" r="0" b="-7665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Operação Exchange (PF)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13435" y="5133975"/>
            <a:ext cx="16615410" cy="3996690"/>
            <a:chOff x="0" y="0"/>
            <a:chExt cx="22153880" cy="53289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153880" cy="5328920"/>
            </a:xfrm>
            <a:custGeom>
              <a:avLst/>
              <a:gdLst/>
              <a:ahLst/>
              <a:cxnLst/>
              <a:rect r="r" b="b" t="t" l="l"/>
              <a:pathLst>
                <a:path h="5328920" w="22153880">
                  <a:moveTo>
                    <a:pt x="0" y="165354"/>
                  </a:moveTo>
                  <a:cubicBezTo>
                    <a:pt x="0" y="74041"/>
                    <a:pt x="74041" y="0"/>
                    <a:pt x="165354" y="0"/>
                  </a:cubicBezTo>
                  <a:lnTo>
                    <a:pt x="21988526" y="0"/>
                  </a:lnTo>
                  <a:cubicBezTo>
                    <a:pt x="22079840" y="0"/>
                    <a:pt x="22153880" y="74041"/>
                    <a:pt x="22153880" y="165354"/>
                  </a:cubicBezTo>
                  <a:lnTo>
                    <a:pt x="22153880" y="5163566"/>
                  </a:lnTo>
                  <a:cubicBezTo>
                    <a:pt x="22153880" y="5254879"/>
                    <a:pt x="22079840" y="5328920"/>
                    <a:pt x="21988526" y="5328920"/>
                  </a:cubicBezTo>
                  <a:lnTo>
                    <a:pt x="165354" y="5328920"/>
                  </a:lnTo>
                  <a:cubicBezTo>
                    <a:pt x="74041" y="5328920"/>
                    <a:pt x="0" y="5254879"/>
                    <a:pt x="0" y="5163566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463040" y="5728335"/>
            <a:ext cx="15316200" cy="142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O que as investigações mostram.  </a:t>
            </a:r>
            <a:r>
              <a:rPr lang="en-US" sz="25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Operações como a Exchange e a Carbono Oculto revelam facções usando criptoativos, fintechs e empresas de fachada para mover o dinheiro do tráfico de volta ao sistema formal.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63040" y="7579995"/>
            <a:ext cx="153162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F0B15E"/>
                </a:solidFill>
                <a:latin typeface="Arial Bold"/>
                <a:ea typeface="Arial Bold"/>
                <a:cs typeface="Arial Bold"/>
                <a:sym typeface="Arial Bold"/>
              </a:rPr>
              <a:t>O ponto fraco é sempre o mesmo:  </a:t>
            </a:r>
            <a:r>
              <a:rPr lang="en-US" sz="25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a fronteira onde o cripto encontra o dinheiro de verdade — a corretora. É exatamente ali que a verificação de titularidade age.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ENQUADRAMENTO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que a regra exige — e o que não exige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665095"/>
            <a:ext cx="8180070" cy="6054090"/>
            <a:chOff x="0" y="0"/>
            <a:chExt cx="10906760" cy="8072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06760" cy="8072120"/>
            </a:xfrm>
            <a:custGeom>
              <a:avLst/>
              <a:gdLst/>
              <a:ahLst/>
              <a:cxnLst/>
              <a:rect r="r" b="b" t="t" l="l"/>
              <a:pathLst>
                <a:path h="807212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7907020"/>
                  </a:lnTo>
                  <a:cubicBezTo>
                    <a:pt x="10906760" y="7998206"/>
                    <a:pt x="10832846" y="8072120"/>
                    <a:pt x="1074166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71600" y="3154680"/>
            <a:ext cx="685800" cy="685800"/>
            <a:chOff x="0" y="0"/>
            <a:chExt cx="914400" cy="914400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263140" y="3182112"/>
            <a:ext cx="5486400" cy="685800"/>
            <a:chOff x="0" y="0"/>
            <a:chExt cx="7315200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15200" cy="914400"/>
            </a:xfrm>
            <a:custGeom>
              <a:avLst/>
              <a:gdLst/>
              <a:ahLst/>
              <a:cxnLst/>
              <a:rect r="r" b="b" t="t" l="l"/>
              <a:pathLst>
                <a:path h="914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73152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0E5A5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EXIGE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463040" y="4288155"/>
            <a:ext cx="6949440" cy="403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Identificar a contraparte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Verificar a titularidade da carteira autocustodiada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FATF R.16 (rev. 2025) + BCB Res. 521 (vigência 2026)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248775" y="2665095"/>
            <a:ext cx="8180070" cy="6054090"/>
            <a:chOff x="0" y="0"/>
            <a:chExt cx="10906760" cy="80721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06760" cy="8072120"/>
            </a:xfrm>
            <a:custGeom>
              <a:avLst/>
              <a:gdLst/>
              <a:ahLst/>
              <a:cxnLst/>
              <a:rect r="r" b="b" t="t" l="l"/>
              <a:pathLst>
                <a:path h="807212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7907020"/>
                  </a:lnTo>
                  <a:cubicBezTo>
                    <a:pt x="10906760" y="7998206"/>
                    <a:pt x="10832846" y="8072120"/>
                    <a:pt x="1074166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806940" y="3154680"/>
            <a:ext cx="685800" cy="685800"/>
            <a:chOff x="0" y="0"/>
            <a:chExt cx="914400" cy="914400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698480" y="3182112"/>
            <a:ext cx="5486400" cy="685800"/>
            <a:chOff x="0" y="0"/>
            <a:chExt cx="731520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15200" cy="914400"/>
            </a:xfrm>
            <a:custGeom>
              <a:avLst/>
              <a:gdLst/>
              <a:ahLst/>
              <a:cxnLst/>
              <a:rect r="r" b="b" t="t" l="l"/>
              <a:pathLst>
                <a:path h="914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73152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F0B1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NÃO EXIGE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898380" y="4288155"/>
            <a:ext cx="6949440" cy="403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Biometria ou prova de vida (liveness)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Vigilância do Estado sobre a população</a:t>
            </a:r>
          </a:p>
          <a:p>
            <a:pPr algn="l" marL="434340" indent="-21717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A obrigação recai sobre a corretora — não sobre quem usa autocustódia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43200" y="5212080"/>
            <a:ext cx="8229600" cy="8229600"/>
            <a:chOff x="0" y="0"/>
            <a:chExt cx="10972800" cy="1097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10972800">
                  <a:moveTo>
                    <a:pt x="0" y="5486400"/>
                  </a:moveTo>
                  <a:cubicBezTo>
                    <a:pt x="0" y="2456307"/>
                    <a:pt x="2456307" y="0"/>
                    <a:pt x="5486400" y="0"/>
                  </a:cubicBezTo>
                  <a:cubicBezTo>
                    <a:pt x="8516493" y="0"/>
                    <a:pt x="10972800" y="2456307"/>
                    <a:pt x="10972800" y="5486400"/>
                  </a:cubicBezTo>
                  <a:cubicBezTo>
                    <a:pt x="10972800" y="8516493"/>
                    <a:pt x="8516493" y="10972800"/>
                    <a:pt x="5486400" y="10972800"/>
                  </a:cubicBezTo>
                  <a:cubicBezTo>
                    <a:pt x="2456307" y="10972800"/>
                    <a:pt x="0" y="8516493"/>
                    <a:pt x="0" y="5486400"/>
                  </a:cubicBezTo>
                  <a:close/>
                </a:path>
              </a:pathLst>
            </a:custGeom>
            <a:solidFill>
              <a:srgbClr val="12507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1577340"/>
            <a:ext cx="822960" cy="822960"/>
            <a:chOff x="0" y="0"/>
            <a:chExt cx="1097280" cy="1097280"/>
          </a:xfrm>
        </p:grpSpPr>
        <p:sp>
          <p:nvSpPr>
            <p:cNvPr name="Freeform 5" id="5" descr="preencoded.png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05256" y="2674620"/>
            <a:ext cx="15087600" cy="480060"/>
            <a:chOff x="0" y="0"/>
            <a:chExt cx="20116800" cy="6400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116800" cy="640080"/>
            </a:xfrm>
            <a:custGeom>
              <a:avLst/>
              <a:gdLst/>
              <a:ahLst/>
              <a:cxnLst/>
              <a:rect r="r" b="b" t="t" l="l"/>
              <a:pathLst>
                <a:path h="64008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62386" r="0" b="-56238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01168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IDEIA INICIAL — E O ERRO A DESFAZER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50392" y="3291840"/>
            <a:ext cx="16459200" cy="1371600"/>
            <a:chOff x="0" y="0"/>
            <a:chExt cx="21945600" cy="1828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2194560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F0B1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"Liveness on-chain" </a:t>
              </a:r>
              <a:r>
                <a:rPr lang="en-US" sz="60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não existe.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96696" y="5101590"/>
            <a:ext cx="15727680" cy="321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A blockchain é determinística e não enxerga um rosto. E biometria é irrevogável: gravá-la num livro imutável colide com o direito de eliminação (LGPD / GDPR).</a:t>
            </a:r>
          </a:p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→ Logo, a prova de vida fica off-chain. O que cruza para a cadeia é, no máximo, uma atestação assinada.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SOLUÇÃO É O ÓBVIO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núcleo é nativo do Bitcoin: assinar uma mensagem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14400" y="2395347"/>
            <a:ext cx="16413480" cy="878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Provar controle de um endereço não exige contrato, nem outra blockchain. Exige o que o Bitcoin faz desde sempre: assinar uma mensagem com a chave privada.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24915" y="3693795"/>
            <a:ext cx="4545330" cy="2625090"/>
            <a:chOff x="0" y="0"/>
            <a:chExt cx="6060440" cy="35001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60440" cy="3500120"/>
            </a:xfrm>
            <a:custGeom>
              <a:avLst/>
              <a:gdLst/>
              <a:ahLst/>
              <a:cxnLst/>
              <a:rect r="r" b="b" t="t" l="l"/>
              <a:pathLst>
                <a:path h="3500120" w="6060440">
                  <a:moveTo>
                    <a:pt x="0" y="165862"/>
                  </a:moveTo>
                  <a:cubicBezTo>
                    <a:pt x="0" y="74168"/>
                    <a:pt x="74168" y="0"/>
                    <a:pt x="165862" y="0"/>
                  </a:cubicBezTo>
                  <a:lnTo>
                    <a:pt x="5894578" y="0"/>
                  </a:lnTo>
                  <a:cubicBezTo>
                    <a:pt x="5986145" y="0"/>
                    <a:pt x="6060440" y="74168"/>
                    <a:pt x="6060440" y="165862"/>
                  </a:cubicBezTo>
                  <a:lnTo>
                    <a:pt x="6060440" y="3334258"/>
                  </a:lnTo>
                  <a:cubicBezTo>
                    <a:pt x="6060440" y="3425825"/>
                    <a:pt x="5986272" y="3500120"/>
                    <a:pt x="5894578" y="3500120"/>
                  </a:cubicBezTo>
                  <a:lnTo>
                    <a:pt x="165862" y="3500120"/>
                  </a:lnTo>
                  <a:cubicBezTo>
                    <a:pt x="74168" y="3500120"/>
                    <a:pt x="0" y="3425952"/>
                    <a:pt x="0" y="333425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714500" y="4142232"/>
            <a:ext cx="685800" cy="685800"/>
            <a:chOff x="0" y="0"/>
            <a:chExt cx="914400" cy="914400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606040" y="4142232"/>
            <a:ext cx="2880360" cy="685800"/>
            <a:chOff x="0" y="0"/>
            <a:chExt cx="3840480" cy="914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40480" cy="914400"/>
            </a:xfrm>
            <a:custGeom>
              <a:avLst/>
              <a:gdLst/>
              <a:ahLst/>
              <a:cxnLst/>
              <a:rect r="r" b="b" t="t" l="l"/>
              <a:pathLst>
                <a:path h="91440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837" r="0" b="-31837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38404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Corretora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805940" y="5111115"/>
            <a:ext cx="3520440" cy="878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gera a mensagem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829300" y="4183380"/>
            <a:ext cx="822960" cy="1234440"/>
            <a:chOff x="0" y="0"/>
            <a:chExt cx="1097280" cy="16459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455" t="0" r="-142455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097280" cy="1664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→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711315" y="3693795"/>
            <a:ext cx="4545330" cy="2625090"/>
            <a:chOff x="0" y="0"/>
            <a:chExt cx="6060440" cy="35001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60440" cy="3500120"/>
            </a:xfrm>
            <a:custGeom>
              <a:avLst/>
              <a:gdLst/>
              <a:ahLst/>
              <a:cxnLst/>
              <a:rect r="r" b="b" t="t" l="l"/>
              <a:pathLst>
                <a:path h="3500120" w="6060440">
                  <a:moveTo>
                    <a:pt x="0" y="165862"/>
                  </a:moveTo>
                  <a:cubicBezTo>
                    <a:pt x="0" y="74168"/>
                    <a:pt x="74168" y="0"/>
                    <a:pt x="165862" y="0"/>
                  </a:cubicBezTo>
                  <a:lnTo>
                    <a:pt x="5894578" y="0"/>
                  </a:lnTo>
                  <a:cubicBezTo>
                    <a:pt x="5986145" y="0"/>
                    <a:pt x="6060440" y="74168"/>
                    <a:pt x="6060440" y="165862"/>
                  </a:cubicBezTo>
                  <a:lnTo>
                    <a:pt x="6060440" y="3334258"/>
                  </a:lnTo>
                  <a:cubicBezTo>
                    <a:pt x="6060440" y="3425825"/>
                    <a:pt x="5986272" y="3500120"/>
                    <a:pt x="5894578" y="3500120"/>
                  </a:cubicBezTo>
                  <a:lnTo>
                    <a:pt x="165862" y="3500120"/>
                  </a:lnTo>
                  <a:cubicBezTo>
                    <a:pt x="74168" y="3500120"/>
                    <a:pt x="0" y="3425952"/>
                    <a:pt x="0" y="333425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7200900" y="4142232"/>
            <a:ext cx="685800" cy="685800"/>
            <a:chOff x="0" y="0"/>
            <a:chExt cx="914400" cy="914400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092440" y="4142232"/>
            <a:ext cx="2880360" cy="685800"/>
            <a:chOff x="0" y="0"/>
            <a:chExt cx="3840480" cy="914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40480" cy="914400"/>
            </a:xfrm>
            <a:custGeom>
              <a:avLst/>
              <a:gdLst/>
              <a:ahLst/>
              <a:cxnLst/>
              <a:rect r="r" b="b" t="t" l="l"/>
              <a:pathLst>
                <a:path h="91440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837" r="0" b="-3183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8404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Carteira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7292340" y="5111115"/>
            <a:ext cx="3520440" cy="878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assina com a chave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315700" y="4183380"/>
            <a:ext cx="822960" cy="1234440"/>
            <a:chOff x="0" y="0"/>
            <a:chExt cx="1097280" cy="16459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455" t="0" r="-142455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1097280" cy="1664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→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197715" y="3693795"/>
            <a:ext cx="4545330" cy="2625090"/>
            <a:chOff x="0" y="0"/>
            <a:chExt cx="6060440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060440" cy="3500120"/>
            </a:xfrm>
            <a:custGeom>
              <a:avLst/>
              <a:gdLst/>
              <a:ahLst/>
              <a:cxnLst/>
              <a:rect r="r" b="b" t="t" l="l"/>
              <a:pathLst>
                <a:path h="3500120" w="6060440">
                  <a:moveTo>
                    <a:pt x="0" y="165862"/>
                  </a:moveTo>
                  <a:cubicBezTo>
                    <a:pt x="0" y="74168"/>
                    <a:pt x="74168" y="0"/>
                    <a:pt x="165862" y="0"/>
                  </a:cubicBezTo>
                  <a:lnTo>
                    <a:pt x="5894578" y="0"/>
                  </a:lnTo>
                  <a:cubicBezTo>
                    <a:pt x="5986145" y="0"/>
                    <a:pt x="6060440" y="74168"/>
                    <a:pt x="6060440" y="165862"/>
                  </a:cubicBezTo>
                  <a:lnTo>
                    <a:pt x="6060440" y="3334258"/>
                  </a:lnTo>
                  <a:cubicBezTo>
                    <a:pt x="6060440" y="3425825"/>
                    <a:pt x="5986272" y="3500120"/>
                    <a:pt x="5894578" y="3500120"/>
                  </a:cubicBezTo>
                  <a:lnTo>
                    <a:pt x="165862" y="3500120"/>
                  </a:lnTo>
                  <a:cubicBezTo>
                    <a:pt x="74168" y="3500120"/>
                    <a:pt x="0" y="3425952"/>
                    <a:pt x="0" y="333425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2687300" y="4142232"/>
            <a:ext cx="685800" cy="685800"/>
            <a:chOff x="0" y="0"/>
            <a:chExt cx="914400" cy="91440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3578840" y="4142232"/>
            <a:ext cx="2880360" cy="685800"/>
            <a:chOff x="0" y="0"/>
            <a:chExt cx="3840480" cy="914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40480" cy="914400"/>
            </a:xfrm>
            <a:custGeom>
              <a:avLst/>
              <a:gdLst/>
              <a:ahLst/>
              <a:cxnLst/>
              <a:rect r="r" b="b" t="t" l="l"/>
              <a:pathLst>
                <a:path h="914400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837" r="0" b="-3183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404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Corretora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2778740" y="5111115"/>
            <a:ext cx="3520440" cy="878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verifica ✓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3435" y="6779895"/>
            <a:ext cx="16615410" cy="2350770"/>
            <a:chOff x="0" y="0"/>
            <a:chExt cx="22153880" cy="31343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2153879" cy="3134360"/>
            </a:xfrm>
            <a:custGeom>
              <a:avLst/>
              <a:gdLst/>
              <a:ahLst/>
              <a:cxnLst/>
              <a:rect r="r" b="b" t="t" l="l"/>
              <a:pathLst>
                <a:path h="3134360" w="22153879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21987890" y="0"/>
                  </a:lnTo>
                  <a:cubicBezTo>
                    <a:pt x="22079584" y="0"/>
                    <a:pt x="22153879" y="74295"/>
                    <a:pt x="22153879" y="165989"/>
                  </a:cubicBezTo>
                  <a:lnTo>
                    <a:pt x="22153879" y="2968371"/>
                  </a:lnTo>
                  <a:cubicBezTo>
                    <a:pt x="22153879" y="3060065"/>
                    <a:pt x="22079584" y="3134360"/>
                    <a:pt x="21987890" y="3134360"/>
                  </a:cubicBezTo>
                  <a:lnTo>
                    <a:pt x="165989" y="3134360"/>
                  </a:lnTo>
                  <a:cubicBezTo>
                    <a:pt x="74295" y="3134360"/>
                    <a:pt x="0" y="3060065"/>
                    <a:pt x="0" y="2968371"/>
                  </a:cubicBezTo>
                  <a:close/>
                </a:path>
              </a:pathLst>
            </a:custGeom>
            <a:solidFill>
              <a:srgbClr val="FBF1E2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371600" y="7338060"/>
            <a:ext cx="685800" cy="685800"/>
            <a:chOff x="0" y="0"/>
            <a:chExt cx="914400" cy="914400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2400300" y="7132320"/>
            <a:ext cx="14676120" cy="1645920"/>
            <a:chOff x="0" y="0"/>
            <a:chExt cx="19568160" cy="219456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9568161" cy="2194560"/>
            </a:xfrm>
            <a:custGeom>
              <a:avLst/>
              <a:gdLst/>
              <a:ahLst/>
              <a:cxnLst/>
              <a:rect r="r" b="b" t="t" l="l"/>
              <a:pathLst>
                <a:path h="2194560" w="19568161">
                  <a:moveTo>
                    <a:pt x="0" y="0"/>
                  </a:moveTo>
                  <a:lnTo>
                    <a:pt x="19568161" y="0"/>
                  </a:lnTo>
                  <a:lnTo>
                    <a:pt x="19568161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741" r="0" b="-123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1956816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>
                  <a:solidFill>
                    <a:srgbClr val="1A1A17"/>
                  </a:solidFill>
                  <a:latin typeface="Arial"/>
                  <a:ea typeface="Arial"/>
                  <a:cs typeface="Arial"/>
                  <a:sym typeface="Arial"/>
                </a:rPr>
                <a:t>O AOPP (21 Analytics, 2020) já industrializou exatamente isto — </a:t>
              </a:r>
              <a:r>
                <a:rPr lang="en-US" sz="2325" b="true">
                  <a:solidFill>
                    <a:srgbClr val="1A1A1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é o velho “assine esta mensagem” automatizado, usando os padrões do próprio Bitcoin. </a:t>
              </a:r>
              <a:r>
                <a:rPr lang="en-US" sz="2325">
                  <a:solidFill>
                    <a:srgbClr val="1A1A17"/>
                  </a:solidFill>
                  <a:latin typeface="Arial"/>
                  <a:ea typeface="Arial"/>
                  <a:cs typeface="Arial"/>
                  <a:sym typeface="Arial"/>
                </a:rPr>
                <a:t>Para segwit/taproot, o padrão moderno é o BIP-322.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BURACO QUE SOBRA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Assinatura ≠ pessoa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802255"/>
            <a:ext cx="10168890" cy="6054090"/>
            <a:chOff x="0" y="0"/>
            <a:chExt cx="13558520" cy="8072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558520" cy="8072120"/>
            </a:xfrm>
            <a:custGeom>
              <a:avLst/>
              <a:gdLst/>
              <a:ahLst/>
              <a:cxnLst/>
              <a:rect r="r" b="b" t="t" l="l"/>
              <a:pathLst>
                <a:path h="8072120" w="1355852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3393420" y="0"/>
                  </a:lnTo>
                  <a:cubicBezTo>
                    <a:pt x="13484606" y="0"/>
                    <a:pt x="13558520" y="73914"/>
                    <a:pt x="13558520" y="165100"/>
                  </a:cubicBezTo>
                  <a:lnTo>
                    <a:pt x="13558520" y="7907020"/>
                  </a:lnTo>
                  <a:cubicBezTo>
                    <a:pt x="13558520" y="7998206"/>
                    <a:pt x="13484606" y="8072120"/>
                    <a:pt x="1339342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71600" y="3291840"/>
            <a:ext cx="754380" cy="754380"/>
            <a:chOff x="0" y="0"/>
            <a:chExt cx="1005840" cy="1005840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463040" y="4347210"/>
            <a:ext cx="9006840" cy="1299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0E3A5C"/>
                </a:solidFill>
                <a:latin typeface="Arial Bold"/>
                <a:ea typeface="Arial Bold"/>
                <a:cs typeface="Arial Bold"/>
                <a:sym typeface="Arial Bold"/>
              </a:rPr>
              <a:t>A assinatura prova posse da chave, não a identidade de quem opera.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63040" y="5865495"/>
            <a:ext cx="9006840" cy="2112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Eu te entrego minha hardware wallet, você assina, e a corretora conclui que fui eu. Os dois se separam com facilidade constrangedora.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374755" y="2802255"/>
            <a:ext cx="6054090" cy="6054090"/>
            <a:chOff x="0" y="0"/>
            <a:chExt cx="8072120" cy="80721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072120" cy="8072120"/>
            </a:xfrm>
            <a:custGeom>
              <a:avLst/>
              <a:gdLst/>
              <a:ahLst/>
              <a:cxnLst/>
              <a:rect r="r" b="b" t="t" l="l"/>
              <a:pathLst>
                <a:path h="8072120" w="807212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7907020" y="0"/>
                  </a:lnTo>
                  <a:cubicBezTo>
                    <a:pt x="7998206" y="0"/>
                    <a:pt x="8072120" y="73914"/>
                    <a:pt x="8072120" y="165100"/>
                  </a:cubicBezTo>
                  <a:lnTo>
                    <a:pt x="8072120" y="7907020"/>
                  </a:lnTo>
                  <a:cubicBezTo>
                    <a:pt x="8072120" y="7998206"/>
                    <a:pt x="7998206" y="8072120"/>
                    <a:pt x="790702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932920" y="3360420"/>
            <a:ext cx="754380" cy="754380"/>
            <a:chOff x="0" y="0"/>
            <a:chExt cx="1005840" cy="1005840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932920" y="4389120"/>
            <a:ext cx="4937760" cy="685800"/>
            <a:chOff x="0" y="0"/>
            <a:chExt cx="6583680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583680" cy="914400"/>
            </a:xfrm>
            <a:custGeom>
              <a:avLst/>
              <a:gdLst/>
              <a:ahLst/>
              <a:cxnLst/>
              <a:rect r="r" b="b" t="t" l="l"/>
              <a:pathLst>
                <a:path h="91440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0292" r="0" b="-9029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65836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0B1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pergunta de pesquisa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2024360" y="5111115"/>
            <a:ext cx="4754880" cy="320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Como amarrar, no mesmo ato, pessoa viva + controle da chave + transação específica?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PROPOSTA DE DESIGN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binding: uma mensagem de compromisso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527935"/>
            <a:ext cx="16615410" cy="1322070"/>
            <a:chOff x="0" y="0"/>
            <a:chExt cx="22153880" cy="17627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53880" cy="1762760"/>
            </a:xfrm>
            <a:custGeom>
              <a:avLst/>
              <a:gdLst/>
              <a:ahLst/>
              <a:cxnLst/>
              <a:rect r="r" b="b" t="t" l="l"/>
              <a:pathLst>
                <a:path h="1762760" w="22153880">
                  <a:moveTo>
                    <a:pt x="0" y="167005"/>
                  </a:moveTo>
                  <a:cubicBezTo>
                    <a:pt x="0" y="74803"/>
                    <a:pt x="74803" y="0"/>
                    <a:pt x="167005" y="0"/>
                  </a:cubicBezTo>
                  <a:lnTo>
                    <a:pt x="21986875" y="0"/>
                  </a:lnTo>
                  <a:cubicBezTo>
                    <a:pt x="22079077" y="0"/>
                    <a:pt x="22153880" y="74803"/>
                    <a:pt x="22153880" y="167005"/>
                  </a:cubicBezTo>
                  <a:lnTo>
                    <a:pt x="22153880" y="1595755"/>
                  </a:lnTo>
                  <a:cubicBezTo>
                    <a:pt x="22153880" y="1687957"/>
                    <a:pt x="22079077" y="1762760"/>
                    <a:pt x="21986875" y="1762760"/>
                  </a:cubicBezTo>
                  <a:lnTo>
                    <a:pt x="167005" y="1762760"/>
                  </a:lnTo>
                  <a:cubicBezTo>
                    <a:pt x="74803" y="1762760"/>
                    <a:pt x="0" y="1687957"/>
                    <a:pt x="0" y="1595755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2537460"/>
            <a:ext cx="16596360" cy="1303020"/>
            <a:chOff x="0" y="0"/>
            <a:chExt cx="22128480" cy="17373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12848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177" r="0" b="-198177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22128480" cy="1756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FFFF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  =  H( nonce  ‖  hash(tx)  ‖  id_sessão )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732020" y="4046220"/>
            <a:ext cx="8778240" cy="5207432"/>
            <a:chOff x="0" y="0"/>
            <a:chExt cx="11704320" cy="6943242"/>
          </a:xfrm>
        </p:grpSpPr>
        <p:sp>
          <p:nvSpPr>
            <p:cNvPr name="Freeform 14" id="14" descr="assets/arquitetura.png"/>
            <p:cNvSpPr/>
            <p:nvPr/>
          </p:nvSpPr>
          <p:spPr>
            <a:xfrm flipH="false" flipV="false" rot="0">
              <a:off x="0" y="0"/>
              <a:ext cx="11704320" cy="6943217"/>
            </a:xfrm>
            <a:custGeom>
              <a:avLst/>
              <a:gdLst/>
              <a:ahLst/>
              <a:cxnLst/>
              <a:rect r="r" b="b" t="t" l="l"/>
              <a:pathLst>
                <a:path h="6943217" w="11704320">
                  <a:moveTo>
                    <a:pt x="0" y="0"/>
                  </a:moveTo>
                  <a:lnTo>
                    <a:pt x="11704320" y="0"/>
                  </a:lnTo>
                  <a:lnTo>
                    <a:pt x="11704320" y="6943217"/>
                  </a:lnTo>
                  <a:lnTo>
                    <a:pt x="0" y="6943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9464040"/>
            <a:ext cx="16596360" cy="480060"/>
            <a:chOff x="0" y="0"/>
            <a:chExt cx="22128480" cy="640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128480" cy="640080"/>
            </a:xfrm>
            <a:custGeom>
              <a:avLst/>
              <a:gdLst/>
              <a:ahLst/>
              <a:cxnLst/>
              <a:rect r="r" b="b" t="t" l="l"/>
              <a:pathLst>
                <a:path h="64008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3625" r="0" b="-62362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2212848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i="true">
                  <a:solidFill>
                    <a:srgbClr val="64748B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A biometria nunca cruza a linha; só a atestação cruza. À direita, a diferença Bitcoin × Ethereum.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VALIDAÇÃO EXECUTÁVEL · 1/2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protocolo em código (Python, ECDSA à mão)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596515"/>
            <a:ext cx="16615410" cy="4819650"/>
            <a:chOff x="0" y="0"/>
            <a:chExt cx="22153880" cy="6426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53880" cy="6426200"/>
            </a:xfrm>
            <a:custGeom>
              <a:avLst/>
              <a:gdLst/>
              <a:ahLst/>
              <a:cxnLst/>
              <a:rect r="r" b="b" t="t" l="l"/>
              <a:pathLst>
                <a:path h="6426200" w="22153880">
                  <a:moveTo>
                    <a:pt x="0" y="165227"/>
                  </a:moveTo>
                  <a:cubicBezTo>
                    <a:pt x="0" y="73914"/>
                    <a:pt x="73914" y="0"/>
                    <a:pt x="165227" y="0"/>
                  </a:cubicBezTo>
                  <a:lnTo>
                    <a:pt x="21988653" y="0"/>
                  </a:lnTo>
                  <a:cubicBezTo>
                    <a:pt x="22079840" y="0"/>
                    <a:pt x="22153880" y="73914"/>
                    <a:pt x="22153880" y="165227"/>
                  </a:cubicBezTo>
                  <a:lnTo>
                    <a:pt x="22153880" y="6260973"/>
                  </a:lnTo>
                  <a:cubicBezTo>
                    <a:pt x="22153880" y="6352159"/>
                    <a:pt x="22079967" y="6426200"/>
                    <a:pt x="21988653" y="6426200"/>
                  </a:cubicBezTo>
                  <a:lnTo>
                    <a:pt x="165227" y="6426200"/>
                  </a:lnTo>
                  <a:cubicBezTo>
                    <a:pt x="73914" y="6426200"/>
                    <a:pt x="0" y="6352286"/>
                    <a:pt x="0" y="6260973"/>
                  </a:cubicBezTo>
                  <a:close/>
                </a:path>
              </a:pathLst>
            </a:custGeom>
            <a:solidFill>
              <a:srgbClr val="14140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394460" y="2956560"/>
            <a:ext cx="15453360" cy="4061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# m = H( nonce || hash(tx) || id_sessao )  -&gt; o que o USUARIO assina</a:t>
            </a: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def montar_m(nonce, tx_hash, session_id):</a:t>
            </a: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hash256(nonce + tx_hash + session_id)</a:t>
            </a:r>
          </a:p>
          <a:p>
            <a:pPr algn="l">
              <a:lnSpc>
                <a:spcPts val="2721"/>
              </a:lnSpc>
            </a:pP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m        = montar_m(NONCE, TX_HASH, SESSION_ID)</a:t>
            </a: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sig_user = sign_bytes(USER_PRIV, m)          # o "Sign Confirmation"</a:t>
            </a:r>
          </a:p>
          <a:p>
            <a:pPr algn="l">
              <a:lnSpc>
                <a:spcPts val="2721"/>
              </a:lnSpc>
            </a:pP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# provedor faz o liveness OFF-CHAIN e co-assina a atestacao</a:t>
            </a: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attest   = montar_atestacao(SESSION_ID, USER_PUB, TX_HASH, T)</a:t>
            </a:r>
          </a:p>
          <a:p>
            <a:pPr algn="l">
              <a:lnSpc>
                <a:spcPts val="2721"/>
              </a:lnSpc>
            </a:pPr>
            <a:r>
              <a:rPr lang="en-US" sz="2025">
                <a:solidFill>
                  <a:srgbClr val="E8E4D8"/>
                </a:solidFill>
                <a:latin typeface="Courier New"/>
                <a:ea typeface="Courier New"/>
                <a:cs typeface="Courier New"/>
                <a:sym typeface="Courier New"/>
              </a:rPr>
              <a:t>sig_prov = sign_bytes(PROV_PRIV, attest)     # a atestacao (EIP-712)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813435" y="7671435"/>
            <a:ext cx="16615410" cy="1733550"/>
            <a:chOff x="0" y="0"/>
            <a:chExt cx="22153880" cy="2311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153880" cy="2311400"/>
            </a:xfrm>
            <a:custGeom>
              <a:avLst/>
              <a:gdLst/>
              <a:ahLst/>
              <a:cxnLst/>
              <a:rect r="r" b="b" t="t" l="l"/>
              <a:pathLst>
                <a:path h="2311400" w="22153880">
                  <a:moveTo>
                    <a:pt x="0" y="166370"/>
                  </a:moveTo>
                  <a:cubicBezTo>
                    <a:pt x="0" y="74549"/>
                    <a:pt x="74549" y="0"/>
                    <a:pt x="166370" y="0"/>
                  </a:cubicBezTo>
                  <a:lnTo>
                    <a:pt x="21987511" y="0"/>
                  </a:lnTo>
                  <a:cubicBezTo>
                    <a:pt x="22079458" y="0"/>
                    <a:pt x="22153880" y="74549"/>
                    <a:pt x="22153880" y="166370"/>
                  </a:cubicBezTo>
                  <a:lnTo>
                    <a:pt x="22153880" y="2145030"/>
                  </a:lnTo>
                  <a:cubicBezTo>
                    <a:pt x="22153880" y="2236978"/>
                    <a:pt x="22079331" y="2311400"/>
                    <a:pt x="21987511" y="2311400"/>
                  </a:cubicBezTo>
                  <a:lnTo>
                    <a:pt x="166370" y="2311400"/>
                  </a:lnTo>
                  <a:cubicBezTo>
                    <a:pt x="74549" y="2311400"/>
                    <a:pt x="0" y="2236851"/>
                    <a:pt x="0" y="214503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371600" y="8161020"/>
            <a:ext cx="617220" cy="617220"/>
            <a:chOff x="0" y="0"/>
            <a:chExt cx="822960" cy="8229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822960" cy="822960"/>
            </a:xfrm>
            <a:custGeom>
              <a:avLst/>
              <a:gdLst/>
              <a:ahLst/>
              <a:cxnLst/>
              <a:rect r="r" b="b" t="t" l="l"/>
              <a:pathLst>
                <a:path h="82296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822960"/>
                  </a:lnTo>
                  <a:lnTo>
                    <a:pt x="0" y="82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263140" y="7927848"/>
            <a:ext cx="14813280" cy="1303020"/>
            <a:chOff x="0" y="0"/>
            <a:chExt cx="19751040" cy="17373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751039" cy="1737360"/>
            </a:xfrm>
            <a:custGeom>
              <a:avLst/>
              <a:gdLst/>
              <a:ahLst/>
              <a:cxnLst/>
              <a:rect r="r" b="b" t="t" l="l"/>
              <a:pathLst>
                <a:path h="173736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1514" r="0" b="-171514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19751040" cy="1756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Duas assinaturas independentes:  </a:t>
              </a:r>
              <a:r>
                <a:rPr lang="en-US" sz="2175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 do usuário prova o controle da chave; a do provedor acrescenta “um humano vivo passou no liveness”. O hash(tx) dentro de m amarra tudo àquela transação.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VALIDAÇÃO EXECUTÁVEL · 2/2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Atacando cada garantia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596515"/>
            <a:ext cx="16615410" cy="3448050"/>
            <a:chOff x="0" y="0"/>
            <a:chExt cx="2215388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53880" cy="4597400"/>
            </a:xfrm>
            <a:custGeom>
              <a:avLst/>
              <a:gdLst/>
              <a:ahLst/>
              <a:cxnLst/>
              <a:rect r="r" b="b" t="t" l="l"/>
              <a:pathLst>
                <a:path h="4597400" w="22153880">
                  <a:moveTo>
                    <a:pt x="0" y="165481"/>
                  </a:moveTo>
                  <a:cubicBezTo>
                    <a:pt x="0" y="74041"/>
                    <a:pt x="74041" y="0"/>
                    <a:pt x="165481" y="0"/>
                  </a:cubicBezTo>
                  <a:lnTo>
                    <a:pt x="21988399" y="0"/>
                  </a:lnTo>
                  <a:cubicBezTo>
                    <a:pt x="22079838" y="0"/>
                    <a:pt x="22153880" y="74041"/>
                    <a:pt x="22153880" y="165481"/>
                  </a:cubicBezTo>
                  <a:lnTo>
                    <a:pt x="22153880" y="4431919"/>
                  </a:lnTo>
                  <a:cubicBezTo>
                    <a:pt x="22153880" y="4523359"/>
                    <a:pt x="22079838" y="4597400"/>
                    <a:pt x="21988399" y="4597400"/>
                  </a:cubicBezTo>
                  <a:lnTo>
                    <a:pt x="165481" y="4597400"/>
                  </a:lnTo>
                  <a:cubicBezTo>
                    <a:pt x="74041" y="4597400"/>
                    <a:pt x="0" y="4523359"/>
                    <a:pt x="0" y="4431919"/>
                  </a:cubicBezTo>
                  <a:close/>
                </a:path>
              </a:pathLst>
            </a:custGeom>
            <a:solidFill>
              <a:srgbClr val="14140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03020" y="2948940"/>
            <a:ext cx="11247120" cy="576072"/>
            <a:chOff x="0" y="0"/>
            <a:chExt cx="14996160" cy="7680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61" cy="768096"/>
            </a:xfrm>
            <a:custGeom>
              <a:avLst/>
              <a:gdLst/>
              <a:ahLst/>
              <a:cxnLst/>
              <a:rect r="r" b="b" t="t" l="l"/>
              <a:pathLst>
                <a:path h="768096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422" r="0" b="-33042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49961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E8E4D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Fluxo honesto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18720" y="2948940"/>
            <a:ext cx="4114800" cy="576072"/>
            <a:chOff x="0" y="0"/>
            <a:chExt cx="5486400" cy="7680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548640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0E5A57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APROVADO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03020" y="3662172"/>
            <a:ext cx="11247120" cy="576072"/>
            <a:chOff x="0" y="0"/>
            <a:chExt cx="14996160" cy="76809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996161" cy="768096"/>
            </a:xfrm>
            <a:custGeom>
              <a:avLst/>
              <a:gdLst/>
              <a:ahLst/>
              <a:cxnLst/>
              <a:rect r="r" b="b" t="t" l="l"/>
              <a:pathLst>
                <a:path h="768096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422" r="0" b="-330422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9961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E8E4D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Ataque 1 · reusar a prova em outra tx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618720" y="3662172"/>
            <a:ext cx="4114800" cy="576072"/>
            <a:chOff x="0" y="0"/>
            <a:chExt cx="5486400" cy="7680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548640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0E5A57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REJEITADO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303020" y="4375404"/>
            <a:ext cx="11247120" cy="576072"/>
            <a:chOff x="0" y="0"/>
            <a:chExt cx="14996160" cy="76809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996161" cy="768096"/>
            </a:xfrm>
            <a:custGeom>
              <a:avLst/>
              <a:gdLst/>
              <a:ahLst/>
              <a:cxnLst/>
              <a:rect r="r" b="b" t="t" l="l"/>
              <a:pathLst>
                <a:path h="768096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422" r="0" b="-330422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149961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E8E4D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Ataque 2 · reapresentar prova expirada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618720" y="4375404"/>
            <a:ext cx="4114800" cy="576072"/>
            <a:chOff x="0" y="0"/>
            <a:chExt cx="5486400" cy="7680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548640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0E5A57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REJEITADO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03020" y="5088636"/>
            <a:ext cx="11247120" cy="576072"/>
            <a:chOff x="0" y="0"/>
            <a:chExt cx="14996160" cy="7680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4996161" cy="768096"/>
            </a:xfrm>
            <a:custGeom>
              <a:avLst/>
              <a:gdLst/>
              <a:ahLst/>
              <a:cxnLst/>
              <a:rect r="r" b="b" t="t" l="l"/>
              <a:pathLst>
                <a:path h="768096" w="14996161">
                  <a:moveTo>
                    <a:pt x="0" y="0"/>
                  </a:moveTo>
                  <a:lnTo>
                    <a:pt x="14996161" y="0"/>
                  </a:lnTo>
                  <a:lnTo>
                    <a:pt x="14996161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422" r="0" b="-33042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1499616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E8E4D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Ataque 3 · provedor desonesto atesta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18720" y="5088636"/>
            <a:ext cx="4114800" cy="576072"/>
            <a:chOff x="0" y="0"/>
            <a:chExt cx="5486400" cy="76809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5486400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C05B4A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APROVADO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13435" y="6299835"/>
            <a:ext cx="8180070" cy="3105150"/>
            <a:chOff x="0" y="0"/>
            <a:chExt cx="10906760" cy="41402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06760" cy="4140200"/>
            </a:xfrm>
            <a:custGeom>
              <a:avLst/>
              <a:gdLst/>
              <a:ahLst/>
              <a:cxnLst/>
              <a:rect r="r" b="b" t="t" l="l"/>
              <a:pathLst>
                <a:path h="4140200" w="1090676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10741152" y="0"/>
                  </a:lnTo>
                  <a:cubicBezTo>
                    <a:pt x="10832592" y="0"/>
                    <a:pt x="10906760" y="74168"/>
                    <a:pt x="10906760" y="165608"/>
                  </a:cubicBezTo>
                  <a:lnTo>
                    <a:pt x="10906760" y="3974592"/>
                  </a:lnTo>
                  <a:cubicBezTo>
                    <a:pt x="10906760" y="4066032"/>
                    <a:pt x="10832592" y="4140200"/>
                    <a:pt x="10741152" y="4140200"/>
                  </a:cubicBezTo>
                  <a:lnTo>
                    <a:pt x="165608" y="4140200"/>
                  </a:lnTo>
                  <a:cubicBezTo>
                    <a:pt x="74168" y="4140200"/>
                    <a:pt x="0" y="4066032"/>
                    <a:pt x="0" y="397459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303020" y="6652260"/>
            <a:ext cx="7269480" cy="548640"/>
            <a:chOff x="0" y="0"/>
            <a:chExt cx="9692640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692640" cy="731520"/>
            </a:xfrm>
            <a:custGeom>
              <a:avLst/>
              <a:gdLst/>
              <a:ahLst/>
              <a:cxnLst/>
              <a:rect r="r" b="b" t="t" l="l"/>
              <a:pathLst>
                <a:path h="73152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176" r="0" b="-20817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969264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0E5A57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 e 2 — por que falham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394460" y="7305675"/>
            <a:ext cx="7155180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 depende de hash(tx) e do nonce. Trocar a transação ou reusar depois da janela muda m — e a assinatura deixa de bater. É o que o AOPP estático não faz.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248775" y="6299835"/>
            <a:ext cx="8180070" cy="3105150"/>
            <a:chOff x="0" y="0"/>
            <a:chExt cx="10906760" cy="4140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06760" cy="4140200"/>
            </a:xfrm>
            <a:custGeom>
              <a:avLst/>
              <a:gdLst/>
              <a:ahLst/>
              <a:cxnLst/>
              <a:rect r="r" b="b" t="t" l="l"/>
              <a:pathLst>
                <a:path h="4140200" w="10906760">
                  <a:moveTo>
                    <a:pt x="0" y="165608"/>
                  </a:moveTo>
                  <a:cubicBezTo>
                    <a:pt x="0" y="74168"/>
                    <a:pt x="74168" y="0"/>
                    <a:pt x="165608" y="0"/>
                  </a:cubicBezTo>
                  <a:lnTo>
                    <a:pt x="10741152" y="0"/>
                  </a:lnTo>
                  <a:cubicBezTo>
                    <a:pt x="10832592" y="0"/>
                    <a:pt x="10906760" y="74168"/>
                    <a:pt x="10906760" y="165608"/>
                  </a:cubicBezTo>
                  <a:lnTo>
                    <a:pt x="10906760" y="3974592"/>
                  </a:lnTo>
                  <a:cubicBezTo>
                    <a:pt x="10906760" y="4066032"/>
                    <a:pt x="10832592" y="4140200"/>
                    <a:pt x="10741152" y="4140200"/>
                  </a:cubicBezTo>
                  <a:lnTo>
                    <a:pt x="165608" y="4140200"/>
                  </a:lnTo>
                  <a:cubicBezTo>
                    <a:pt x="74168" y="4140200"/>
                    <a:pt x="0" y="4066032"/>
                    <a:pt x="0" y="3974592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738360" y="6652260"/>
            <a:ext cx="7269480" cy="548640"/>
            <a:chOff x="0" y="0"/>
            <a:chExt cx="9692640" cy="7315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692640" cy="731520"/>
            </a:xfrm>
            <a:custGeom>
              <a:avLst/>
              <a:gdLst/>
              <a:ahLst/>
              <a:cxnLst/>
              <a:rect r="r" b="b" t="t" l="l"/>
              <a:pathLst>
                <a:path h="73152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176" r="0" b="-208176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969264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F0B15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 — o limite intransponível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9829800" y="7305675"/>
            <a:ext cx="7155180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Nenhum liveness real ocorreu, mas o provedor co-assina “passou” e o verificador aprova. Cripto nenhuma prova que a câmera viu um humano. A segurança = confiança no atestador.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 QUE CABE NO BITCOIN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Ethereum × Bitcoin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665095"/>
            <a:ext cx="8180070" cy="6191250"/>
            <a:chOff x="0" y="0"/>
            <a:chExt cx="10906760" cy="8255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06760" cy="8255000"/>
            </a:xfrm>
            <a:custGeom>
              <a:avLst/>
              <a:gdLst/>
              <a:ahLst/>
              <a:cxnLst/>
              <a:rect r="r" b="b" t="t" l="l"/>
              <a:pathLst>
                <a:path h="825500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8089900"/>
                  </a:lnTo>
                  <a:cubicBezTo>
                    <a:pt x="10906760" y="8181086"/>
                    <a:pt x="10832846" y="8255000"/>
                    <a:pt x="10741660" y="8255000"/>
                  </a:cubicBezTo>
                  <a:lnTo>
                    <a:pt x="165100" y="8255000"/>
                  </a:lnTo>
                  <a:cubicBezTo>
                    <a:pt x="73914" y="8255000"/>
                    <a:pt x="0" y="8181086"/>
                    <a:pt x="0" y="808990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71600" y="3154680"/>
            <a:ext cx="754380" cy="754380"/>
            <a:chOff x="0" y="0"/>
            <a:chExt cx="1005840" cy="1005840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331720" y="3182112"/>
            <a:ext cx="5486400" cy="685800"/>
            <a:chOff x="0" y="0"/>
            <a:chExt cx="7315200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15200" cy="914400"/>
            </a:xfrm>
            <a:custGeom>
              <a:avLst/>
              <a:gdLst/>
              <a:ahLst/>
              <a:cxnLst/>
              <a:rect r="r" b="b" t="t" l="l"/>
              <a:pathLst>
                <a:path h="914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73152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Bitcoin faz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463040" y="4356735"/>
            <a:ext cx="6949440" cy="4170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0767" indent="-210383" lvl="1">
              <a:lnSpc>
                <a:spcPts val="2790"/>
              </a:lnSpc>
              <a:buFont typeface="Arial"/>
              <a:buChar char="•"/>
            </a:pPr>
            <a:r>
              <a:rPr lang="en-US" sz="23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Provar controle da chave (assinar m) — BIP-322</a:t>
            </a:r>
          </a:p>
          <a:p>
            <a:pPr algn="l" marL="420767" indent="-210383" lvl="1">
              <a:lnSpc>
                <a:spcPts val="2790"/>
              </a:lnSpc>
              <a:buFont typeface="Arial"/>
              <a:buChar char="•"/>
            </a:pPr>
            <a:r>
              <a:rPr lang="en-US" sz="23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Carimbar um hash da atestação — OP_RETURN / OpenTimestamps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248775" y="2665095"/>
            <a:ext cx="8180070" cy="6191250"/>
            <a:chOff x="0" y="0"/>
            <a:chExt cx="10906760" cy="8255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06760" cy="8255000"/>
            </a:xfrm>
            <a:custGeom>
              <a:avLst/>
              <a:gdLst/>
              <a:ahLst/>
              <a:cxnLst/>
              <a:rect r="r" b="b" t="t" l="l"/>
              <a:pathLst>
                <a:path h="825500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8089900"/>
                  </a:lnTo>
                  <a:cubicBezTo>
                    <a:pt x="10906760" y="8181086"/>
                    <a:pt x="10832846" y="8255000"/>
                    <a:pt x="10741660" y="8255000"/>
                  </a:cubicBezTo>
                  <a:lnTo>
                    <a:pt x="165100" y="8255000"/>
                  </a:lnTo>
                  <a:cubicBezTo>
                    <a:pt x="73914" y="8255000"/>
                    <a:pt x="0" y="8181086"/>
                    <a:pt x="0" y="8089900"/>
                  </a:cubicBezTo>
                  <a:close/>
                </a:path>
              </a:pathLst>
            </a:custGeom>
            <a:solidFill>
              <a:srgbClr val="0E3A5C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806940" y="3154680"/>
            <a:ext cx="754380" cy="754380"/>
            <a:chOff x="0" y="0"/>
            <a:chExt cx="1005840" cy="1005840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00584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767060" y="3182112"/>
            <a:ext cx="6172200" cy="685800"/>
            <a:chOff x="0" y="0"/>
            <a:chExt cx="822960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229600" cy="914400"/>
            </a:xfrm>
            <a:custGeom>
              <a:avLst/>
              <a:gdLst/>
              <a:ahLst/>
              <a:cxnLst/>
              <a:rect r="r" b="b" t="t" l="l"/>
              <a:pathLst>
                <a:path h="914400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82296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Só o Ethereum faz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898380" y="4356735"/>
            <a:ext cx="6949440" cy="4170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0767" indent="-210383" lvl="1">
              <a:lnSpc>
                <a:spcPts val="2790"/>
              </a:lnSpc>
              <a:buFont typeface="Arial"/>
              <a:buChar char="•"/>
            </a:pPr>
            <a:r>
              <a:rPr lang="en-US" sz="2325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Verificar a atestação em contrato e recusar a tx sem ela (ERC-4337)</a:t>
            </a:r>
          </a:p>
          <a:p>
            <a:pPr algn="l" marL="420767" indent="-210383" lvl="1">
              <a:lnSpc>
                <a:spcPts val="2790"/>
              </a:lnSpc>
              <a:buFont typeface="Arial"/>
              <a:buChar char="•"/>
            </a:pPr>
            <a:r>
              <a:rPr lang="en-US" sz="2325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Verificar prova ZK on-chain (no Bitcoin, só off-chain / pesquisa: BitVM)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22960" y="9121140"/>
            <a:ext cx="16596360" cy="548640"/>
            <a:chOff x="0" y="0"/>
            <a:chExt cx="2212848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128480" cy="731520"/>
            </a:xfrm>
            <a:custGeom>
              <a:avLst/>
              <a:gdLst/>
              <a:ahLst/>
              <a:cxnLst/>
              <a:rect r="r" b="b" t="t" l="l"/>
              <a:pathLst>
                <a:path h="7315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422" r="0" b="-5394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2212848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b="true" sz="2100" i="true">
                  <a:solidFill>
                    <a:srgbClr val="8A5214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O núcleo obrigatório é Bitcoin nativo. A imposição na cadeia é o “contrato que só o Ethereum tem”.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ANÁLISE CRÍTICA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14984"/>
            <a:ext cx="16596360" cy="1371600"/>
            <a:chOff x="0" y="0"/>
            <a:chExt cx="22128480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28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5768" r="0" b="-18576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2128480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Os limites honestos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665095"/>
            <a:ext cx="8180070" cy="2899410"/>
            <a:chOff x="0" y="0"/>
            <a:chExt cx="10906760" cy="38658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06760" cy="3865880"/>
            </a:xfrm>
            <a:custGeom>
              <a:avLst/>
              <a:gdLst/>
              <a:ahLst/>
              <a:cxnLst/>
              <a:rect r="r" b="b" t="t" l="l"/>
              <a:pathLst>
                <a:path h="3865880" w="10906760">
                  <a:moveTo>
                    <a:pt x="0" y="165735"/>
                  </a:moveTo>
                  <a:cubicBezTo>
                    <a:pt x="0" y="74168"/>
                    <a:pt x="74168" y="0"/>
                    <a:pt x="165735" y="0"/>
                  </a:cubicBezTo>
                  <a:lnTo>
                    <a:pt x="10741025" y="0"/>
                  </a:lnTo>
                  <a:cubicBezTo>
                    <a:pt x="10832592" y="0"/>
                    <a:pt x="10906760" y="74168"/>
                    <a:pt x="10906760" y="165735"/>
                  </a:cubicBezTo>
                  <a:lnTo>
                    <a:pt x="10906760" y="3700145"/>
                  </a:lnTo>
                  <a:cubicBezTo>
                    <a:pt x="10906760" y="3791712"/>
                    <a:pt x="10832592" y="3865880"/>
                    <a:pt x="10741025" y="3865880"/>
                  </a:cubicBezTo>
                  <a:lnTo>
                    <a:pt x="165735" y="3865880"/>
                  </a:lnTo>
                  <a:cubicBezTo>
                    <a:pt x="74168" y="3865880"/>
                    <a:pt x="0" y="3791712"/>
                    <a:pt x="0" y="370014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03020" y="3113532"/>
            <a:ext cx="617220" cy="617220"/>
            <a:chOff x="0" y="0"/>
            <a:chExt cx="822960" cy="822960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822960" cy="822960"/>
            </a:xfrm>
            <a:custGeom>
              <a:avLst/>
              <a:gdLst/>
              <a:ahLst/>
              <a:cxnLst/>
              <a:rect r="r" b="b" t="t" l="l"/>
              <a:pathLst>
                <a:path h="82296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822960"/>
                  </a:lnTo>
                  <a:lnTo>
                    <a:pt x="0" y="82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94560" y="3086100"/>
            <a:ext cx="6446520" cy="685800"/>
            <a:chOff x="0" y="0"/>
            <a:chExt cx="8595360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595360" cy="914400"/>
            </a:xfrm>
            <a:custGeom>
              <a:avLst/>
              <a:gdLst/>
              <a:ahLst/>
              <a:cxnLst/>
              <a:rect r="r" b="b" t="t" l="l"/>
              <a:pathLst>
                <a:path h="91440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159" r="0" b="-133159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59536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Âncora off-chain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394460" y="4013835"/>
            <a:ext cx="70866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Sempre há um atestador. Centralizado, esvazia o sentido de estar na cadeia.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317355" y="2665095"/>
            <a:ext cx="8180070" cy="2899410"/>
            <a:chOff x="0" y="0"/>
            <a:chExt cx="10906760" cy="38658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06760" cy="3865880"/>
            </a:xfrm>
            <a:custGeom>
              <a:avLst/>
              <a:gdLst/>
              <a:ahLst/>
              <a:cxnLst/>
              <a:rect r="r" b="b" t="t" l="l"/>
              <a:pathLst>
                <a:path h="3865880" w="10906760">
                  <a:moveTo>
                    <a:pt x="0" y="165735"/>
                  </a:moveTo>
                  <a:cubicBezTo>
                    <a:pt x="0" y="74168"/>
                    <a:pt x="74168" y="0"/>
                    <a:pt x="165735" y="0"/>
                  </a:cubicBezTo>
                  <a:lnTo>
                    <a:pt x="10741025" y="0"/>
                  </a:lnTo>
                  <a:cubicBezTo>
                    <a:pt x="10832592" y="0"/>
                    <a:pt x="10906760" y="74168"/>
                    <a:pt x="10906760" y="165735"/>
                  </a:cubicBezTo>
                  <a:lnTo>
                    <a:pt x="10906760" y="3700145"/>
                  </a:lnTo>
                  <a:cubicBezTo>
                    <a:pt x="10906760" y="3791712"/>
                    <a:pt x="10832592" y="3865880"/>
                    <a:pt x="10741025" y="3865880"/>
                  </a:cubicBezTo>
                  <a:lnTo>
                    <a:pt x="165735" y="3865880"/>
                  </a:lnTo>
                  <a:cubicBezTo>
                    <a:pt x="74168" y="3865880"/>
                    <a:pt x="0" y="3791712"/>
                    <a:pt x="0" y="370014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806940" y="3113532"/>
            <a:ext cx="617220" cy="617220"/>
            <a:chOff x="0" y="0"/>
            <a:chExt cx="822960" cy="822960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822960" cy="822960"/>
            </a:xfrm>
            <a:custGeom>
              <a:avLst/>
              <a:gdLst/>
              <a:ahLst/>
              <a:cxnLst/>
              <a:rect r="r" b="b" t="t" l="l"/>
              <a:pathLst>
                <a:path h="82296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822960"/>
                  </a:lnTo>
                  <a:lnTo>
                    <a:pt x="0" y="82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698480" y="3086100"/>
            <a:ext cx="6446520" cy="685800"/>
            <a:chOff x="0" y="0"/>
            <a:chExt cx="859536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595360" cy="914400"/>
            </a:xfrm>
            <a:custGeom>
              <a:avLst/>
              <a:gdLst/>
              <a:ahLst/>
              <a:cxnLst/>
              <a:rect r="r" b="b" t="t" l="l"/>
              <a:pathLst>
                <a:path h="91440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159" r="0" b="-133159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859536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TOCTOU &amp; deepfake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898380" y="4013835"/>
            <a:ext cx="70866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janela encolhe a brecha, não a fecha. Sem 100%.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13435" y="5888355"/>
            <a:ext cx="8180070" cy="2899410"/>
            <a:chOff x="0" y="0"/>
            <a:chExt cx="10906760" cy="38658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06760" cy="3865880"/>
            </a:xfrm>
            <a:custGeom>
              <a:avLst/>
              <a:gdLst/>
              <a:ahLst/>
              <a:cxnLst/>
              <a:rect r="r" b="b" t="t" l="l"/>
              <a:pathLst>
                <a:path h="3865880" w="10906760">
                  <a:moveTo>
                    <a:pt x="0" y="165735"/>
                  </a:moveTo>
                  <a:cubicBezTo>
                    <a:pt x="0" y="74168"/>
                    <a:pt x="74168" y="0"/>
                    <a:pt x="165735" y="0"/>
                  </a:cubicBezTo>
                  <a:lnTo>
                    <a:pt x="10741025" y="0"/>
                  </a:lnTo>
                  <a:cubicBezTo>
                    <a:pt x="10832592" y="0"/>
                    <a:pt x="10906760" y="74168"/>
                    <a:pt x="10906760" y="165735"/>
                  </a:cubicBezTo>
                  <a:lnTo>
                    <a:pt x="10906760" y="3700145"/>
                  </a:lnTo>
                  <a:cubicBezTo>
                    <a:pt x="10906760" y="3791712"/>
                    <a:pt x="10832592" y="3865880"/>
                    <a:pt x="10741025" y="3865880"/>
                  </a:cubicBezTo>
                  <a:lnTo>
                    <a:pt x="165735" y="3865880"/>
                  </a:lnTo>
                  <a:cubicBezTo>
                    <a:pt x="74168" y="3865880"/>
                    <a:pt x="0" y="3791712"/>
                    <a:pt x="0" y="370014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303020" y="6336792"/>
            <a:ext cx="617220" cy="617220"/>
            <a:chOff x="0" y="0"/>
            <a:chExt cx="822960" cy="822960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822960" cy="822960"/>
            </a:xfrm>
            <a:custGeom>
              <a:avLst/>
              <a:gdLst/>
              <a:ahLst/>
              <a:cxnLst/>
              <a:rect r="r" b="b" t="t" l="l"/>
              <a:pathLst>
                <a:path h="82296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822960"/>
                  </a:lnTo>
                  <a:lnTo>
                    <a:pt x="0" y="82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2194560" y="6309360"/>
            <a:ext cx="6446520" cy="685800"/>
            <a:chOff x="0" y="0"/>
            <a:chExt cx="8595360" cy="914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595360" cy="914400"/>
            </a:xfrm>
            <a:custGeom>
              <a:avLst/>
              <a:gdLst/>
              <a:ahLst/>
              <a:cxnLst/>
              <a:rect r="r" b="b" t="t" l="l"/>
              <a:pathLst>
                <a:path h="91440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159" r="0" b="-13315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859536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Choque com a autocustódia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94460" y="7237095"/>
            <a:ext cx="70866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 AOPP foi removido por Trezor, Sparrow e BlueWallet em 2022. Barreira de legitimidade, não técnica.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317355" y="5888355"/>
            <a:ext cx="8180070" cy="2899410"/>
            <a:chOff x="0" y="0"/>
            <a:chExt cx="10906760" cy="3865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06760" cy="3865880"/>
            </a:xfrm>
            <a:custGeom>
              <a:avLst/>
              <a:gdLst/>
              <a:ahLst/>
              <a:cxnLst/>
              <a:rect r="r" b="b" t="t" l="l"/>
              <a:pathLst>
                <a:path h="3865880" w="10906760">
                  <a:moveTo>
                    <a:pt x="0" y="165735"/>
                  </a:moveTo>
                  <a:cubicBezTo>
                    <a:pt x="0" y="74168"/>
                    <a:pt x="74168" y="0"/>
                    <a:pt x="165735" y="0"/>
                  </a:cubicBezTo>
                  <a:lnTo>
                    <a:pt x="10741025" y="0"/>
                  </a:lnTo>
                  <a:cubicBezTo>
                    <a:pt x="10832592" y="0"/>
                    <a:pt x="10906760" y="74168"/>
                    <a:pt x="10906760" y="165735"/>
                  </a:cubicBezTo>
                  <a:lnTo>
                    <a:pt x="10906760" y="3700145"/>
                  </a:lnTo>
                  <a:cubicBezTo>
                    <a:pt x="10906760" y="3791712"/>
                    <a:pt x="10832592" y="3865880"/>
                    <a:pt x="10741025" y="3865880"/>
                  </a:cubicBezTo>
                  <a:lnTo>
                    <a:pt x="165735" y="3865880"/>
                  </a:lnTo>
                  <a:cubicBezTo>
                    <a:pt x="74168" y="3865880"/>
                    <a:pt x="0" y="3791712"/>
                    <a:pt x="0" y="370014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9806940" y="6336792"/>
            <a:ext cx="617220" cy="617220"/>
            <a:chOff x="0" y="0"/>
            <a:chExt cx="822960" cy="822960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822960" cy="822960"/>
            </a:xfrm>
            <a:custGeom>
              <a:avLst/>
              <a:gdLst/>
              <a:ahLst/>
              <a:cxnLst/>
              <a:rect r="r" b="b" t="t" l="l"/>
              <a:pathLst>
                <a:path h="82296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822960"/>
                  </a:lnTo>
                  <a:lnTo>
                    <a:pt x="0" y="822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0698480" y="6309360"/>
            <a:ext cx="6446520" cy="685800"/>
            <a:chOff x="0" y="0"/>
            <a:chExt cx="8595360" cy="9144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595360" cy="914400"/>
            </a:xfrm>
            <a:custGeom>
              <a:avLst/>
              <a:gdLst/>
              <a:ahLst/>
              <a:cxnLst/>
              <a:rect r="r" b="b" t="t" l="l"/>
              <a:pathLst>
                <a:path h="91440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159" r="0" b="-133159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859536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E3A5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regra não pede liveness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898380" y="7237095"/>
            <a:ext cx="7086600" cy="1289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Impor a camada opcional extrapola a lei — e alimenta o medo de vigilância.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67360" y="-3291840"/>
            <a:ext cx="9601200" cy="9601200"/>
            <a:chOff x="0" y="0"/>
            <a:chExt cx="12801600" cy="12801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01600" cy="12801600"/>
            </a:xfrm>
            <a:custGeom>
              <a:avLst/>
              <a:gdLst/>
              <a:ahLst/>
              <a:cxnLst/>
              <a:rect r="r" b="b" t="t" l="l"/>
              <a:pathLst>
                <a:path h="12801600" w="12801600">
                  <a:moveTo>
                    <a:pt x="0" y="6400800"/>
                  </a:moveTo>
                  <a:cubicBezTo>
                    <a:pt x="0" y="2865755"/>
                    <a:pt x="2865755" y="0"/>
                    <a:pt x="6400800" y="0"/>
                  </a:cubicBezTo>
                  <a:cubicBezTo>
                    <a:pt x="9935845" y="0"/>
                    <a:pt x="12801600" y="2865755"/>
                    <a:pt x="12801600" y="6400800"/>
                  </a:cubicBezTo>
                  <a:cubicBezTo>
                    <a:pt x="12801600" y="9935845"/>
                    <a:pt x="9935845" y="12801600"/>
                    <a:pt x="6400800" y="12801600"/>
                  </a:cubicBezTo>
                  <a:cubicBezTo>
                    <a:pt x="2865755" y="12801600"/>
                    <a:pt x="0" y="9935845"/>
                    <a:pt x="0" y="6400800"/>
                  </a:cubicBezTo>
                  <a:close/>
                </a:path>
              </a:pathLst>
            </a:custGeom>
            <a:solidFill>
              <a:srgbClr val="12507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576072"/>
            <a:ext cx="15087600" cy="411480"/>
            <a:chOff x="0" y="0"/>
            <a:chExt cx="20116800" cy="5486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2011680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B26B1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CONCLUSÃO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22960" y="1014984"/>
            <a:ext cx="16459200" cy="1234440"/>
            <a:chOff x="0" y="0"/>
            <a:chExt cx="21945600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1945600" cy="1674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Rota viável × limite intransponível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13435" y="2733675"/>
            <a:ext cx="8180070" cy="6054090"/>
            <a:chOff x="0" y="0"/>
            <a:chExt cx="10906760" cy="80721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06760" cy="8072120"/>
            </a:xfrm>
            <a:custGeom>
              <a:avLst/>
              <a:gdLst/>
              <a:ahLst/>
              <a:cxnLst/>
              <a:rect r="r" b="b" t="t" l="l"/>
              <a:pathLst>
                <a:path h="807212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7907020"/>
                  </a:lnTo>
                  <a:cubicBezTo>
                    <a:pt x="10906760" y="7998206"/>
                    <a:pt x="10832846" y="8072120"/>
                    <a:pt x="1074166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12507A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371600" y="3223260"/>
            <a:ext cx="685800" cy="685800"/>
            <a:chOff x="0" y="0"/>
            <a:chExt cx="914400" cy="91440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263140" y="3223260"/>
            <a:ext cx="5486400" cy="685800"/>
            <a:chOff x="0" y="0"/>
            <a:chExt cx="7315200" cy="914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315200" cy="914400"/>
            </a:xfrm>
            <a:custGeom>
              <a:avLst/>
              <a:gdLst/>
              <a:ahLst/>
              <a:cxnLst/>
              <a:rect r="r" b="b" t="t" l="l"/>
              <a:pathLst>
                <a:path h="914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73152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Rota viável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463040" y="4347210"/>
            <a:ext cx="6949440" cy="4179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Prova de titularidade via assinatura — nativa do Bitcoin</a:t>
            </a:r>
          </a:p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Atende à Travel Rule e à Resolução BCB 521</a:t>
            </a:r>
          </a:p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DCEAF5"/>
                </a:solidFill>
                <a:latin typeface="Arial"/>
                <a:ea typeface="Arial"/>
                <a:cs typeface="Arial"/>
                <a:sym typeface="Arial"/>
              </a:rPr>
              <a:t>Mira o crime no ponto certo, sem vigiar a população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248775" y="2733675"/>
            <a:ext cx="8180070" cy="6054090"/>
            <a:chOff x="0" y="0"/>
            <a:chExt cx="10906760" cy="80721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06760" cy="8072120"/>
            </a:xfrm>
            <a:custGeom>
              <a:avLst/>
              <a:gdLst/>
              <a:ahLst/>
              <a:cxnLst/>
              <a:rect r="r" b="b" t="t" l="l"/>
              <a:pathLst>
                <a:path h="8072120" w="1090676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10741660" y="0"/>
                  </a:lnTo>
                  <a:cubicBezTo>
                    <a:pt x="10832846" y="0"/>
                    <a:pt x="10906760" y="73914"/>
                    <a:pt x="10906760" y="165100"/>
                  </a:cubicBezTo>
                  <a:lnTo>
                    <a:pt x="10906760" y="7907020"/>
                  </a:lnTo>
                  <a:cubicBezTo>
                    <a:pt x="10906760" y="7998206"/>
                    <a:pt x="10832846" y="8072120"/>
                    <a:pt x="10741660" y="8072120"/>
                  </a:cubicBezTo>
                  <a:lnTo>
                    <a:pt x="165100" y="8072120"/>
                  </a:lnTo>
                  <a:cubicBezTo>
                    <a:pt x="73914" y="8072120"/>
                    <a:pt x="0" y="7998206"/>
                    <a:pt x="0" y="7907020"/>
                  </a:cubicBezTo>
                  <a:close/>
                </a:path>
              </a:pathLst>
            </a:custGeom>
            <a:solidFill>
              <a:srgbClr val="7A2E22"/>
            </a:solidFill>
            <a:ln w="19050" cap="sq">
              <a:solidFill>
                <a:srgbClr val="E3E6EA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806940" y="3223260"/>
            <a:ext cx="685800" cy="685800"/>
            <a:chOff x="0" y="0"/>
            <a:chExt cx="914400" cy="914400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0698480" y="3223260"/>
            <a:ext cx="6446520" cy="685800"/>
            <a:chOff x="0" y="0"/>
            <a:chExt cx="8595360" cy="914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595360" cy="914400"/>
            </a:xfrm>
            <a:custGeom>
              <a:avLst/>
              <a:gdLst/>
              <a:ahLst/>
              <a:cxnLst/>
              <a:rect r="r" b="b" t="t" l="l"/>
              <a:pathLst>
                <a:path h="91440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159" r="0" b="-133159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859536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Limite intransponível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9898380" y="4347210"/>
            <a:ext cx="6949440" cy="4179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F3D9D2"/>
                </a:solidFill>
                <a:latin typeface="Arial"/>
                <a:ea typeface="Arial"/>
                <a:cs typeface="Arial"/>
                <a:sym typeface="Arial"/>
              </a:rPr>
              <a:t>“Liveness on-chain” não existe; biometria fica off-chain</a:t>
            </a:r>
          </a:p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F3D9D2"/>
                </a:solidFill>
                <a:latin typeface="Arial"/>
                <a:ea typeface="Arial"/>
                <a:cs typeface="Arial"/>
                <a:sym typeface="Arial"/>
              </a:rPr>
              <a:t>Impor a atestação na cadeia: Ethereum sim, Bitcoin não</a:t>
            </a:r>
          </a:p>
          <a:p>
            <a:pPr algn="l" marL="407194" indent="-203597" lvl="1">
              <a:lnSpc>
                <a:spcPts val="2700"/>
              </a:lnSpc>
              <a:buFont typeface="Arial"/>
              <a:buChar char="•"/>
            </a:pPr>
            <a:r>
              <a:rPr lang="en-US" sz="2250">
                <a:solidFill>
                  <a:srgbClr val="F3D9D2"/>
                </a:solidFill>
                <a:latin typeface="Arial"/>
                <a:ea typeface="Arial"/>
                <a:cs typeface="Arial"/>
                <a:sym typeface="Arial"/>
              </a:rPr>
              <a:t>Sem 100%: a confiança se reduz a um atestador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22960" y="9052560"/>
            <a:ext cx="16596360" cy="685800"/>
            <a:chOff x="0" y="0"/>
            <a:chExt cx="22128480" cy="914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128480" cy="914400"/>
            </a:xfrm>
            <a:custGeom>
              <a:avLst/>
              <a:gdLst/>
              <a:ahLst/>
              <a:cxnLst/>
              <a:rect r="r" b="b" t="t" l="l"/>
              <a:pathLst>
                <a:path h="91440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1537" r="0" b="-4215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221284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 i="true">
                  <a:solidFill>
                    <a:srgbClr val="F0B15E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Prova de titularidade, sim — vigilância da população, não.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DAHPd_Yml6s</dc:identifier>
  <dcterms:modified xsi:type="dcterms:W3CDTF">2011-08-01T06:04:30Z</dcterms:modified>
  <cp:revision>1</cp:revision>
  <dc:title>Apresentacao_Titularidade_Bitcoin.pptx</dc:title>
</cp:coreProperties>
</file>